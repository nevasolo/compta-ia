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6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611"/>
    <p:restoredTop sz="94610"/>
  </p:normalViewPr>
  <p:slideViewPr>
    <p:cSldViewPr snapToGrid="0" snapToObjects="1">
      <p:cViewPr varScale="1">
        <p:scale>
          <a:sx n="87" d="100"/>
          <a:sy n="87" d="100"/>
        </p:scale>
        <p:origin x="490" y="7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notesMaster" Target="notesMasters/notesMaster1.xml"/><Relationship Id="rId20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4070280783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6.png"/><Relationship Id="rId5" Type="http://schemas.openxmlformats.org/officeDocument/2006/relationships/image" Target="../media/image5.png"/><Relationship Id="rId4" Type="http://schemas.openxmlformats.org/officeDocument/2006/relationships/image" Target="../media/image4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9.png"/></Relationships>
</file>

<file path=ppt/slides/_rels/slide7.xml.rels><?xml version="1.0" encoding="UTF-8" standalone="yes"?>
<Relationships xmlns="http://schemas.openxmlformats.org/package/2006/relationships"><Relationship Id="rId8" Type="http://schemas.openxmlformats.org/officeDocument/2006/relationships/image" Target="../media/image9.png"/><Relationship Id="rId3" Type="http://schemas.openxmlformats.org/officeDocument/2006/relationships/image" Target="../media/image10.png"/><Relationship Id="rId7" Type="http://schemas.openxmlformats.org/officeDocument/2006/relationships/image" Target="../media/image14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3.png"/><Relationship Id="rId5" Type="http://schemas.openxmlformats.org/officeDocument/2006/relationships/image" Target="../media/image12.png"/><Relationship Id="rId4" Type="http://schemas.openxmlformats.org/officeDocument/2006/relationships/image" Target="../media/image11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7" Type="http://schemas.openxmlformats.org/officeDocument/2006/relationships/image" Target="../media/image19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8.png"/><Relationship Id="rId5" Type="http://schemas.openxmlformats.org/officeDocument/2006/relationships/image" Target="../media/image5.png"/><Relationship Id="rId4" Type="http://schemas.openxmlformats.org/officeDocument/2006/relationships/image" Target="../media/image7.pn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png"/><Relationship Id="rId7" Type="http://schemas.openxmlformats.org/officeDocument/2006/relationships/image" Target="../media/image24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23.png"/><Relationship Id="rId5" Type="http://schemas.openxmlformats.org/officeDocument/2006/relationships/image" Target="../media/image22.png"/><Relationship Id="rId4" Type="http://schemas.openxmlformats.org/officeDocument/2006/relationships/image" Target="../media/image21.png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5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B2A5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082735" y="-1463040"/>
            <a:ext cx="4754880" cy="4754880"/>
          </a:xfrm>
          <a:prstGeom prst="ellipse">
            <a:avLst/>
          </a:prstGeom>
          <a:solidFill>
            <a:srgbClr val="121D3D"/>
          </a:solidFill>
          <a:ln/>
        </p:spPr>
      </p:sp>
      <p:sp>
        <p:nvSpPr>
          <p:cNvPr id="3" name="Shape 1"/>
          <p:cNvSpPr/>
          <p:nvPr/>
        </p:nvSpPr>
        <p:spPr>
          <a:xfrm>
            <a:off x="-1463040" y="4480560"/>
            <a:ext cx="3840480" cy="3840480"/>
          </a:xfrm>
          <a:prstGeom prst="ellipse">
            <a:avLst/>
          </a:prstGeom>
          <a:solidFill>
            <a:srgbClr val="121D3D"/>
          </a:solidFill>
          <a:ln/>
        </p:spPr>
      </p:sp>
      <p:sp>
        <p:nvSpPr>
          <p:cNvPr id="4" name="Shape 2"/>
          <p:cNvSpPr/>
          <p:nvPr/>
        </p:nvSpPr>
        <p:spPr>
          <a:xfrm>
            <a:off x="822960" y="777240"/>
            <a:ext cx="868680" cy="868680"/>
          </a:xfrm>
          <a:prstGeom prst="ellipse">
            <a:avLst/>
          </a:prstGeom>
          <a:solidFill>
            <a:srgbClr val="D9A441"/>
          </a:solidFill>
          <a:ln/>
        </p:spPr>
      </p:sp>
      <p:pic>
        <p:nvPicPr>
          <p:cNvPr id="5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24128" y="978408"/>
            <a:ext cx="466344" cy="466344"/>
          </a:xfrm>
          <a:prstGeom prst="rect">
            <a:avLst/>
          </a:prstGeom>
        </p:spPr>
      </p:pic>
      <p:sp>
        <p:nvSpPr>
          <p:cNvPr id="6" name="Text 3"/>
          <p:cNvSpPr txBox="1"/>
          <p:nvPr/>
        </p:nvSpPr>
        <p:spPr>
          <a:xfrm>
            <a:off x="777240" y="2331720"/>
            <a:ext cx="960120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5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COMPTA-IA</a:t>
            </a:r>
            <a:endParaRPr lang="en-US" sz="5400" dirty="0"/>
          </a:p>
        </p:txBody>
      </p:sp>
      <p:sp>
        <p:nvSpPr>
          <p:cNvPr id="7" name="Text 4"/>
          <p:cNvSpPr txBox="1"/>
          <p:nvPr/>
        </p:nvSpPr>
        <p:spPr>
          <a:xfrm>
            <a:off x="822960" y="3429000"/>
            <a:ext cx="8778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800" dirty="0">
                <a:solidFill>
                  <a:srgbClr val="EEF3F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Génération automatique des écritures comptables assistée par intelligence artificielle</a:t>
            </a:r>
            <a:endParaRPr lang="en-US" sz="1800" dirty="0"/>
          </a:p>
        </p:txBody>
      </p:sp>
      <p:sp>
        <p:nvSpPr>
          <p:cNvPr id="8" name="Text 5"/>
          <p:cNvSpPr txBox="1"/>
          <p:nvPr/>
        </p:nvSpPr>
        <p:spPr>
          <a:xfrm>
            <a:off x="822960" y="5349240"/>
            <a:ext cx="9144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dirty="0">
                <a:solidFill>
                  <a:srgbClr val="AFC0E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Mémoire de fin d'études — Master en Informatique — École Nationale d'Informatique (ENI)</a:t>
            </a:r>
            <a:endParaRPr lang="en-US" sz="1300" dirty="0"/>
          </a:p>
        </p:txBody>
      </p:sp>
      <p:sp>
        <p:nvSpPr>
          <p:cNvPr id="9" name="Text 6"/>
          <p:cNvSpPr txBox="1"/>
          <p:nvPr/>
        </p:nvSpPr>
        <p:spPr>
          <a:xfrm>
            <a:off x="822960" y="5742432"/>
            <a:ext cx="9144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Présenté par FANEVA Solomampionona   •   Année universitaire 2025 – 2026</a:t>
            </a:r>
            <a:endParaRPr lang="en-US" sz="13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411480"/>
            <a:ext cx="11094415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000" b="1" dirty="0">
                <a:solidFill>
                  <a:srgbClr val="1B2A5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SOMMAIRE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640080" y="1444752"/>
            <a:ext cx="347472" cy="347472"/>
          </a:xfrm>
          <a:prstGeom prst="ellipse">
            <a:avLst/>
          </a:prstGeom>
          <a:solidFill>
            <a:srgbClr val="1B2A55"/>
          </a:solidFill>
          <a:ln/>
        </p:spPr>
      </p:sp>
      <p:sp>
        <p:nvSpPr>
          <p:cNvPr id="4" name="Text 2"/>
          <p:cNvSpPr txBox="1"/>
          <p:nvPr/>
        </p:nvSpPr>
        <p:spPr>
          <a:xfrm>
            <a:off x="640080" y="1444752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300" dirty="0"/>
          </a:p>
        </p:txBody>
      </p:sp>
      <p:sp>
        <p:nvSpPr>
          <p:cNvPr id="5" name="Text 3"/>
          <p:cNvSpPr txBox="1"/>
          <p:nvPr/>
        </p:nvSpPr>
        <p:spPr>
          <a:xfrm>
            <a:off x="1143000" y="1417320"/>
            <a:ext cx="475488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600" dirty="0">
                <a:solidFill>
                  <a:srgbClr val="1B2A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Introduction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640080" y="2011680"/>
            <a:ext cx="347472" cy="347472"/>
          </a:xfrm>
          <a:prstGeom prst="ellipse">
            <a:avLst/>
          </a:prstGeom>
          <a:solidFill>
            <a:srgbClr val="1B2A55"/>
          </a:solidFill>
          <a:ln/>
        </p:spPr>
      </p:sp>
      <p:sp>
        <p:nvSpPr>
          <p:cNvPr id="7" name="Text 5"/>
          <p:cNvSpPr txBox="1"/>
          <p:nvPr/>
        </p:nvSpPr>
        <p:spPr>
          <a:xfrm>
            <a:off x="640080" y="2011680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300" dirty="0"/>
          </a:p>
        </p:txBody>
      </p:sp>
      <p:sp>
        <p:nvSpPr>
          <p:cNvPr id="8" name="Text 6"/>
          <p:cNvSpPr txBox="1"/>
          <p:nvPr/>
        </p:nvSpPr>
        <p:spPr>
          <a:xfrm>
            <a:off x="1143000" y="1984248"/>
            <a:ext cx="475488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600" dirty="0">
                <a:solidFill>
                  <a:srgbClr val="1B2A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Problématique</a:t>
            </a:r>
            <a:endParaRPr lang="en-US" sz="1600" dirty="0"/>
          </a:p>
        </p:txBody>
      </p:sp>
      <p:sp>
        <p:nvSpPr>
          <p:cNvPr id="9" name="Shape 7"/>
          <p:cNvSpPr/>
          <p:nvPr/>
        </p:nvSpPr>
        <p:spPr>
          <a:xfrm>
            <a:off x="640080" y="2578608"/>
            <a:ext cx="347472" cy="347472"/>
          </a:xfrm>
          <a:prstGeom prst="ellipse">
            <a:avLst/>
          </a:prstGeom>
          <a:solidFill>
            <a:srgbClr val="1B2A55"/>
          </a:solidFill>
          <a:ln/>
        </p:spPr>
      </p:sp>
      <p:sp>
        <p:nvSpPr>
          <p:cNvPr id="10" name="Text 8"/>
          <p:cNvSpPr txBox="1"/>
          <p:nvPr/>
        </p:nvSpPr>
        <p:spPr>
          <a:xfrm>
            <a:off x="640080" y="2578608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300" dirty="0"/>
          </a:p>
        </p:txBody>
      </p:sp>
      <p:sp>
        <p:nvSpPr>
          <p:cNvPr id="11" name="Text 9"/>
          <p:cNvSpPr txBox="1"/>
          <p:nvPr/>
        </p:nvSpPr>
        <p:spPr>
          <a:xfrm>
            <a:off x="1143000" y="2551176"/>
            <a:ext cx="475488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600" dirty="0">
                <a:solidFill>
                  <a:srgbClr val="1B2A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Objectifs du projet</a:t>
            </a:r>
            <a:endParaRPr lang="en-US" sz="1600" dirty="0"/>
          </a:p>
        </p:txBody>
      </p:sp>
      <p:sp>
        <p:nvSpPr>
          <p:cNvPr id="12" name="Shape 10"/>
          <p:cNvSpPr/>
          <p:nvPr/>
        </p:nvSpPr>
        <p:spPr>
          <a:xfrm>
            <a:off x="640080" y="3145536"/>
            <a:ext cx="347472" cy="347472"/>
          </a:xfrm>
          <a:prstGeom prst="ellipse">
            <a:avLst/>
          </a:prstGeom>
          <a:solidFill>
            <a:srgbClr val="1B2A55"/>
          </a:solidFill>
          <a:ln/>
        </p:spPr>
      </p:sp>
      <p:sp>
        <p:nvSpPr>
          <p:cNvPr id="13" name="Text 11"/>
          <p:cNvSpPr txBox="1"/>
          <p:nvPr/>
        </p:nvSpPr>
        <p:spPr>
          <a:xfrm>
            <a:off x="640080" y="3145536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300" dirty="0"/>
          </a:p>
        </p:txBody>
      </p:sp>
      <p:sp>
        <p:nvSpPr>
          <p:cNvPr id="14" name="Text 12"/>
          <p:cNvSpPr txBox="1"/>
          <p:nvPr/>
        </p:nvSpPr>
        <p:spPr>
          <a:xfrm>
            <a:off x="1143000" y="3118104"/>
            <a:ext cx="475488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600" dirty="0">
                <a:solidFill>
                  <a:srgbClr val="1B2A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Concepts théoriques</a:t>
            </a:r>
            <a:endParaRPr lang="en-US" sz="1600" dirty="0"/>
          </a:p>
        </p:txBody>
      </p:sp>
      <p:sp>
        <p:nvSpPr>
          <p:cNvPr id="15" name="Shape 13"/>
          <p:cNvSpPr/>
          <p:nvPr/>
        </p:nvSpPr>
        <p:spPr>
          <a:xfrm>
            <a:off x="640080" y="3712464"/>
            <a:ext cx="347472" cy="347472"/>
          </a:xfrm>
          <a:prstGeom prst="ellipse">
            <a:avLst/>
          </a:prstGeom>
          <a:solidFill>
            <a:srgbClr val="1B2A55"/>
          </a:solidFill>
          <a:ln/>
        </p:spPr>
      </p:sp>
      <p:sp>
        <p:nvSpPr>
          <p:cNvPr id="16" name="Text 14"/>
          <p:cNvSpPr txBox="1"/>
          <p:nvPr/>
        </p:nvSpPr>
        <p:spPr>
          <a:xfrm>
            <a:off x="640080" y="3712464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300" dirty="0"/>
          </a:p>
        </p:txBody>
      </p:sp>
      <p:sp>
        <p:nvSpPr>
          <p:cNvPr id="17" name="Text 15"/>
          <p:cNvSpPr txBox="1"/>
          <p:nvPr/>
        </p:nvSpPr>
        <p:spPr>
          <a:xfrm>
            <a:off x="1143000" y="3685032"/>
            <a:ext cx="475488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600" dirty="0">
                <a:solidFill>
                  <a:srgbClr val="1B2A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Outils et technologies</a:t>
            </a:r>
            <a:endParaRPr lang="en-US" sz="1600" dirty="0"/>
          </a:p>
        </p:txBody>
      </p:sp>
      <p:sp>
        <p:nvSpPr>
          <p:cNvPr id="18" name="Shape 16"/>
          <p:cNvSpPr/>
          <p:nvPr/>
        </p:nvSpPr>
        <p:spPr>
          <a:xfrm>
            <a:off x="640080" y="4279392"/>
            <a:ext cx="347472" cy="347472"/>
          </a:xfrm>
          <a:prstGeom prst="ellipse">
            <a:avLst/>
          </a:prstGeom>
          <a:solidFill>
            <a:srgbClr val="1B2A55"/>
          </a:solidFill>
          <a:ln/>
        </p:spPr>
      </p:sp>
      <p:sp>
        <p:nvSpPr>
          <p:cNvPr id="19" name="Text 17"/>
          <p:cNvSpPr txBox="1"/>
          <p:nvPr/>
        </p:nvSpPr>
        <p:spPr>
          <a:xfrm>
            <a:off x="640080" y="4279392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1300" dirty="0"/>
          </a:p>
        </p:txBody>
      </p:sp>
      <p:sp>
        <p:nvSpPr>
          <p:cNvPr id="20" name="Text 18"/>
          <p:cNvSpPr txBox="1"/>
          <p:nvPr/>
        </p:nvSpPr>
        <p:spPr>
          <a:xfrm>
            <a:off x="1143000" y="4251960"/>
            <a:ext cx="475488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600" dirty="0">
                <a:solidFill>
                  <a:srgbClr val="1B2A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Architecture logicielle</a:t>
            </a:r>
            <a:endParaRPr lang="en-US" sz="1600" dirty="0"/>
          </a:p>
        </p:txBody>
      </p:sp>
      <p:sp>
        <p:nvSpPr>
          <p:cNvPr id="21" name="Shape 19"/>
          <p:cNvSpPr/>
          <p:nvPr/>
        </p:nvSpPr>
        <p:spPr>
          <a:xfrm>
            <a:off x="6309360" y="1444752"/>
            <a:ext cx="347472" cy="347472"/>
          </a:xfrm>
          <a:prstGeom prst="ellipse">
            <a:avLst/>
          </a:prstGeom>
          <a:solidFill>
            <a:srgbClr val="1B2A55"/>
          </a:solidFill>
          <a:ln/>
        </p:spPr>
      </p:sp>
      <p:sp>
        <p:nvSpPr>
          <p:cNvPr id="22" name="Text 20"/>
          <p:cNvSpPr txBox="1"/>
          <p:nvPr/>
        </p:nvSpPr>
        <p:spPr>
          <a:xfrm>
            <a:off x="6309360" y="1444752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1300" dirty="0"/>
          </a:p>
        </p:txBody>
      </p:sp>
      <p:sp>
        <p:nvSpPr>
          <p:cNvPr id="23" name="Text 21"/>
          <p:cNvSpPr txBox="1"/>
          <p:nvPr/>
        </p:nvSpPr>
        <p:spPr>
          <a:xfrm>
            <a:off x="6812280" y="1417320"/>
            <a:ext cx="475488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600" dirty="0">
                <a:solidFill>
                  <a:srgbClr val="1B2A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Pipeline de traitement IA</a:t>
            </a:r>
            <a:endParaRPr lang="en-US" sz="1600" dirty="0"/>
          </a:p>
        </p:txBody>
      </p:sp>
      <p:sp>
        <p:nvSpPr>
          <p:cNvPr id="24" name="Shape 22"/>
          <p:cNvSpPr/>
          <p:nvPr/>
        </p:nvSpPr>
        <p:spPr>
          <a:xfrm>
            <a:off x="6309360" y="2011680"/>
            <a:ext cx="347472" cy="347472"/>
          </a:xfrm>
          <a:prstGeom prst="ellipse">
            <a:avLst/>
          </a:prstGeom>
          <a:solidFill>
            <a:srgbClr val="1B2A55"/>
          </a:solidFill>
          <a:ln/>
        </p:spPr>
      </p:sp>
      <p:sp>
        <p:nvSpPr>
          <p:cNvPr id="25" name="Text 23"/>
          <p:cNvSpPr txBox="1"/>
          <p:nvPr/>
        </p:nvSpPr>
        <p:spPr>
          <a:xfrm>
            <a:off x="6309360" y="2011680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</a:t>
            </a:r>
            <a:endParaRPr lang="en-US" sz="1300" dirty="0"/>
          </a:p>
        </p:txBody>
      </p:sp>
      <p:sp>
        <p:nvSpPr>
          <p:cNvPr id="26" name="Text 24"/>
          <p:cNvSpPr txBox="1"/>
          <p:nvPr/>
        </p:nvSpPr>
        <p:spPr>
          <a:xfrm>
            <a:off x="6812280" y="1984248"/>
            <a:ext cx="475488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600" dirty="0">
                <a:solidFill>
                  <a:srgbClr val="1B2A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Modèle de données</a:t>
            </a:r>
            <a:endParaRPr lang="en-US" sz="1600" dirty="0"/>
          </a:p>
        </p:txBody>
      </p:sp>
      <p:sp>
        <p:nvSpPr>
          <p:cNvPr id="27" name="Shape 25"/>
          <p:cNvSpPr/>
          <p:nvPr/>
        </p:nvSpPr>
        <p:spPr>
          <a:xfrm>
            <a:off x="6309360" y="2578608"/>
            <a:ext cx="347472" cy="347472"/>
          </a:xfrm>
          <a:prstGeom prst="ellipse">
            <a:avLst/>
          </a:prstGeom>
          <a:solidFill>
            <a:srgbClr val="1B2A55"/>
          </a:solidFill>
          <a:ln/>
        </p:spPr>
      </p:sp>
      <p:sp>
        <p:nvSpPr>
          <p:cNvPr id="28" name="Text 26"/>
          <p:cNvSpPr txBox="1"/>
          <p:nvPr/>
        </p:nvSpPr>
        <p:spPr>
          <a:xfrm>
            <a:off x="6309360" y="2578608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</a:t>
            </a:r>
            <a:endParaRPr lang="en-US" sz="1300" dirty="0"/>
          </a:p>
        </p:txBody>
      </p:sp>
      <p:sp>
        <p:nvSpPr>
          <p:cNvPr id="29" name="Text 27"/>
          <p:cNvSpPr txBox="1"/>
          <p:nvPr/>
        </p:nvSpPr>
        <p:spPr>
          <a:xfrm>
            <a:off x="6812280" y="2551176"/>
            <a:ext cx="475488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600" dirty="0">
                <a:solidFill>
                  <a:srgbClr val="1B2A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Démonstration</a:t>
            </a:r>
            <a:endParaRPr lang="en-US" sz="1600" dirty="0"/>
          </a:p>
        </p:txBody>
      </p:sp>
      <p:sp>
        <p:nvSpPr>
          <p:cNvPr id="30" name="Shape 28"/>
          <p:cNvSpPr/>
          <p:nvPr/>
        </p:nvSpPr>
        <p:spPr>
          <a:xfrm>
            <a:off x="6309360" y="3145536"/>
            <a:ext cx="347472" cy="347472"/>
          </a:xfrm>
          <a:prstGeom prst="ellipse">
            <a:avLst/>
          </a:prstGeom>
          <a:solidFill>
            <a:srgbClr val="1B2A55"/>
          </a:solidFill>
          <a:ln/>
        </p:spPr>
      </p:sp>
      <p:sp>
        <p:nvSpPr>
          <p:cNvPr id="31" name="Text 29"/>
          <p:cNvSpPr txBox="1"/>
          <p:nvPr/>
        </p:nvSpPr>
        <p:spPr>
          <a:xfrm>
            <a:off x="6309360" y="3145536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</a:t>
            </a:r>
            <a:endParaRPr lang="en-US" sz="1300" dirty="0"/>
          </a:p>
        </p:txBody>
      </p:sp>
      <p:sp>
        <p:nvSpPr>
          <p:cNvPr id="32" name="Text 30"/>
          <p:cNvSpPr txBox="1"/>
          <p:nvPr/>
        </p:nvSpPr>
        <p:spPr>
          <a:xfrm>
            <a:off x="6812280" y="3118104"/>
            <a:ext cx="475488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600" dirty="0">
                <a:solidFill>
                  <a:srgbClr val="1B2A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Avantages pour l'entreprise</a:t>
            </a:r>
            <a:endParaRPr lang="en-US" sz="1600" dirty="0"/>
          </a:p>
        </p:txBody>
      </p:sp>
      <p:sp>
        <p:nvSpPr>
          <p:cNvPr id="33" name="Shape 31"/>
          <p:cNvSpPr/>
          <p:nvPr/>
        </p:nvSpPr>
        <p:spPr>
          <a:xfrm>
            <a:off x="6309360" y="3712464"/>
            <a:ext cx="347472" cy="347472"/>
          </a:xfrm>
          <a:prstGeom prst="ellipse">
            <a:avLst/>
          </a:prstGeom>
          <a:solidFill>
            <a:srgbClr val="1B2A55"/>
          </a:solidFill>
          <a:ln/>
        </p:spPr>
      </p:sp>
      <p:sp>
        <p:nvSpPr>
          <p:cNvPr id="34" name="Text 32"/>
          <p:cNvSpPr txBox="1"/>
          <p:nvPr/>
        </p:nvSpPr>
        <p:spPr>
          <a:xfrm>
            <a:off x="6309360" y="3712464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</a:t>
            </a:r>
            <a:endParaRPr lang="en-US" sz="1300" dirty="0"/>
          </a:p>
        </p:txBody>
      </p:sp>
      <p:sp>
        <p:nvSpPr>
          <p:cNvPr id="35" name="Text 33"/>
          <p:cNvSpPr txBox="1"/>
          <p:nvPr/>
        </p:nvSpPr>
        <p:spPr>
          <a:xfrm>
            <a:off x="6812280" y="3685032"/>
            <a:ext cx="475488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600" dirty="0">
                <a:solidFill>
                  <a:srgbClr val="1B2A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Risques et limites</a:t>
            </a:r>
            <a:endParaRPr lang="en-US" sz="1600" dirty="0"/>
          </a:p>
        </p:txBody>
      </p:sp>
      <p:sp>
        <p:nvSpPr>
          <p:cNvPr id="36" name="Shape 34"/>
          <p:cNvSpPr/>
          <p:nvPr/>
        </p:nvSpPr>
        <p:spPr>
          <a:xfrm>
            <a:off x="6309360" y="4279392"/>
            <a:ext cx="347472" cy="347472"/>
          </a:xfrm>
          <a:prstGeom prst="ellipse">
            <a:avLst/>
          </a:prstGeom>
          <a:solidFill>
            <a:srgbClr val="1B2A55"/>
          </a:solidFill>
          <a:ln/>
        </p:spPr>
      </p:sp>
      <p:sp>
        <p:nvSpPr>
          <p:cNvPr id="37" name="Text 35"/>
          <p:cNvSpPr txBox="1"/>
          <p:nvPr/>
        </p:nvSpPr>
        <p:spPr>
          <a:xfrm>
            <a:off x="6309360" y="4279392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</a:t>
            </a:r>
            <a:endParaRPr lang="en-US" sz="1300" dirty="0"/>
          </a:p>
        </p:txBody>
      </p:sp>
      <p:sp>
        <p:nvSpPr>
          <p:cNvPr id="38" name="Text 36"/>
          <p:cNvSpPr txBox="1"/>
          <p:nvPr/>
        </p:nvSpPr>
        <p:spPr>
          <a:xfrm>
            <a:off x="6812280" y="4251960"/>
            <a:ext cx="475488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600" dirty="0">
                <a:solidFill>
                  <a:srgbClr val="1B2A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Conclusion</a:t>
            </a:r>
            <a:endParaRPr lang="en-US" sz="1600" dirty="0"/>
          </a:p>
        </p:txBody>
      </p:sp>
      <p:sp>
        <p:nvSpPr>
          <p:cNvPr id="39" name="Text 37"/>
          <p:cNvSpPr txBox="1"/>
          <p:nvPr/>
        </p:nvSpPr>
        <p:spPr>
          <a:xfrm>
            <a:off x="548640" y="6446520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5B6B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Compta-IA — Soutenance de mémoire</a:t>
            </a:r>
            <a:endParaRPr lang="en-US" sz="900" dirty="0"/>
          </a:p>
        </p:txBody>
      </p:sp>
      <p:sp>
        <p:nvSpPr>
          <p:cNvPr id="40" name="Text 38"/>
          <p:cNvSpPr txBox="1"/>
          <p:nvPr/>
        </p:nvSpPr>
        <p:spPr>
          <a:xfrm>
            <a:off x="11185855" y="644652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B6B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411480"/>
            <a:ext cx="11094415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000" b="1" dirty="0">
                <a:solidFill>
                  <a:srgbClr val="1B2A5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INTRODUCTION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7863840" y="1371600"/>
            <a:ext cx="3657600" cy="4754880"/>
          </a:xfrm>
          <a:prstGeom prst="rect">
            <a:avLst/>
          </a:prstGeom>
          <a:solidFill>
            <a:srgbClr val="EEF3FB"/>
          </a:solidFill>
          <a:ln/>
        </p:spPr>
      </p:sp>
      <p:sp>
        <p:nvSpPr>
          <p:cNvPr id="4" name="Shape 2"/>
          <p:cNvSpPr/>
          <p:nvPr/>
        </p:nvSpPr>
        <p:spPr>
          <a:xfrm>
            <a:off x="9418320" y="1920240"/>
            <a:ext cx="914400" cy="914400"/>
          </a:xfrm>
          <a:prstGeom prst="ellipse">
            <a:avLst/>
          </a:prstGeom>
          <a:solidFill>
            <a:srgbClr val="FFFFFF"/>
          </a:solidFill>
          <a:ln/>
        </p:spPr>
      </p:sp>
      <p:pic>
        <p:nvPicPr>
          <p:cNvPr id="5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619488" y="2121408"/>
            <a:ext cx="512064" cy="512064"/>
          </a:xfrm>
          <a:prstGeom prst="rect">
            <a:avLst/>
          </a:prstGeom>
        </p:spPr>
      </p:pic>
      <p:sp>
        <p:nvSpPr>
          <p:cNvPr id="6" name="Text 3"/>
          <p:cNvSpPr txBox="1"/>
          <p:nvPr/>
        </p:nvSpPr>
        <p:spPr>
          <a:xfrm>
            <a:off x="8138160" y="3063240"/>
            <a:ext cx="310896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700" b="1" i="1" dirty="0">
                <a:solidFill>
                  <a:srgbClr val="1B2A5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« L'IA propose,</a:t>
            </a:r>
            <a:endParaRPr lang="en-US" sz="1700" dirty="0"/>
          </a:p>
          <a:p>
            <a:pPr marL="0" indent="0" algn="l">
              <a:buNone/>
            </a:pPr>
            <a:r>
              <a:rPr lang="en-US" sz="1700" b="1" i="1" dirty="0">
                <a:solidFill>
                  <a:srgbClr val="1B2A5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le comptable dispose »</a:t>
            </a:r>
            <a:endParaRPr lang="en-US" sz="1700" dirty="0"/>
          </a:p>
        </p:txBody>
      </p:sp>
      <p:sp>
        <p:nvSpPr>
          <p:cNvPr id="7" name="Text 4"/>
          <p:cNvSpPr txBox="1"/>
          <p:nvPr/>
        </p:nvSpPr>
        <p:spPr>
          <a:xfrm>
            <a:off x="8138160" y="4526280"/>
            <a:ext cx="31089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dirty="0">
                <a:solidFill>
                  <a:srgbClr val="5B6B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Principe directeur de ce mémoire : automatiser sans jamais retirer la décision finale au comptable.</a:t>
            </a:r>
            <a:endParaRPr lang="en-US" sz="1200" dirty="0"/>
          </a:p>
        </p:txBody>
      </p:sp>
      <p:sp>
        <p:nvSpPr>
          <p:cNvPr id="8" name="Text 5"/>
          <p:cNvSpPr txBox="1"/>
          <p:nvPr/>
        </p:nvSpPr>
        <p:spPr>
          <a:xfrm>
            <a:off x="640080" y="1463040"/>
            <a:ext cx="694944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15000"/>
              </a:lnSpc>
              <a:buNone/>
            </a:pPr>
            <a:r>
              <a:rPr lang="en-US" sz="1500" dirty="0">
                <a:solidFill>
                  <a:srgbClr val="1B2A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 transformation numérique bouleverse aujourd'hui la comptabilité d'entreprise : reconnaissance automatique de documents, traitement du langage naturel, apprentissage automatique.</a:t>
            </a:r>
            <a:endParaRPr lang="en-US" sz="1500" dirty="0"/>
          </a:p>
        </p:txBody>
      </p:sp>
      <p:sp>
        <p:nvSpPr>
          <p:cNvPr id="9" name="Text 6"/>
          <p:cNvSpPr txBox="1"/>
          <p:nvPr/>
        </p:nvSpPr>
        <p:spPr>
          <a:xfrm>
            <a:off x="640080" y="2971800"/>
            <a:ext cx="694944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15000"/>
              </a:lnSpc>
              <a:buNone/>
            </a:pPr>
            <a:r>
              <a:rPr lang="en-US" sz="1500" dirty="0">
                <a:solidFill>
                  <a:srgbClr val="1B2A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Pourtant, dans une grande partie des entreprises malgaches, la saisie des factures fournisseurs reste un processus manuel, répétitif et chronophage.</a:t>
            </a:r>
            <a:endParaRPr lang="en-US" sz="1500" dirty="0"/>
          </a:p>
        </p:txBody>
      </p:sp>
      <p:sp>
        <p:nvSpPr>
          <p:cNvPr id="10" name="Text 7"/>
          <p:cNvSpPr txBox="1"/>
          <p:nvPr/>
        </p:nvSpPr>
        <p:spPr>
          <a:xfrm>
            <a:off x="640080" y="4480560"/>
            <a:ext cx="694944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15000"/>
              </a:lnSpc>
              <a:buNone/>
            </a:pPr>
            <a:r>
              <a:rPr lang="en-US" sz="1500" dirty="0">
                <a:solidFill>
                  <a:srgbClr val="1B2A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Ce mémoire présente Compta-IA : un système qui lit automatiquement une facture, en extrait les informations clés, puis propose une écriture comptable conforme au Plan Comptable Général malgache (PCG 2005) — toujours soumise à la validation d'un comptable.</a:t>
            </a:r>
            <a:endParaRPr lang="en-US" sz="1500" dirty="0"/>
          </a:p>
        </p:txBody>
      </p:sp>
      <p:sp>
        <p:nvSpPr>
          <p:cNvPr id="11" name="Text 8"/>
          <p:cNvSpPr txBox="1"/>
          <p:nvPr/>
        </p:nvSpPr>
        <p:spPr>
          <a:xfrm>
            <a:off x="548640" y="6446520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5B6B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Compta-IA — Soutenance de mémoire</a:t>
            </a:r>
            <a:endParaRPr lang="en-US" sz="900" dirty="0"/>
          </a:p>
        </p:txBody>
      </p:sp>
      <p:sp>
        <p:nvSpPr>
          <p:cNvPr id="12" name="Text 9"/>
          <p:cNvSpPr txBox="1"/>
          <p:nvPr/>
        </p:nvSpPr>
        <p:spPr>
          <a:xfrm>
            <a:off x="11185855" y="644652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B6B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411480"/>
            <a:ext cx="11094415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000" b="1" dirty="0">
                <a:solidFill>
                  <a:srgbClr val="1B2A5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PROBLÉMATIQUE</a:t>
            </a:r>
            <a:endParaRPr lang="en-US" sz="300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1234440"/>
            <a:ext cx="10881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500" i="1" dirty="0">
                <a:solidFill>
                  <a:srgbClr val="5B6B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 traitement manuel des factures fournisseurs pose plusieurs difficultés récurrentes :</a:t>
            </a:r>
            <a:endParaRPr lang="en-US" sz="1500" dirty="0"/>
          </a:p>
        </p:txBody>
      </p:sp>
      <p:sp>
        <p:nvSpPr>
          <p:cNvPr id="4" name="Shape 2"/>
          <p:cNvSpPr/>
          <p:nvPr/>
        </p:nvSpPr>
        <p:spPr>
          <a:xfrm>
            <a:off x="640080" y="1965960"/>
            <a:ext cx="2606040" cy="3840480"/>
          </a:xfrm>
          <a:prstGeom prst="rect">
            <a:avLst/>
          </a:prstGeom>
          <a:solidFill>
            <a:srgbClr val="EEF3FB"/>
          </a:solidFill>
          <a:ln/>
          <a:effectLst>
            <a:outerShdw blurRad="76200" dist="25400" dir="5400000" algn="bl" rotWithShape="0">
              <a:srgbClr val="1B2A55">
                <a:alpha val="12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1613916" y="2286000"/>
            <a:ext cx="658368" cy="658368"/>
          </a:xfrm>
          <a:prstGeom prst="ellipse">
            <a:avLst/>
          </a:prstGeom>
          <a:solidFill>
            <a:srgbClr val="1B2A55"/>
          </a:solidFill>
          <a:ln/>
        </p:spPr>
      </p:sp>
      <p:pic>
        <p:nvPicPr>
          <p:cNvPr id="6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760220" y="2432304"/>
            <a:ext cx="365760" cy="365760"/>
          </a:xfrm>
          <a:prstGeom prst="rect">
            <a:avLst/>
          </a:prstGeom>
        </p:spPr>
      </p:pic>
      <p:sp>
        <p:nvSpPr>
          <p:cNvPr id="7" name="Text 4"/>
          <p:cNvSpPr txBox="1"/>
          <p:nvPr/>
        </p:nvSpPr>
        <p:spPr>
          <a:xfrm>
            <a:off x="777240" y="3154680"/>
            <a:ext cx="23317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1B2A5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Perte de temps</a:t>
            </a:r>
            <a:endParaRPr lang="en-US" sz="1500" dirty="0"/>
          </a:p>
        </p:txBody>
      </p:sp>
      <p:sp>
        <p:nvSpPr>
          <p:cNvPr id="8" name="Text 5"/>
          <p:cNvSpPr txBox="1"/>
          <p:nvPr/>
        </p:nvSpPr>
        <p:spPr>
          <a:xfrm>
            <a:off x="841248" y="3749040"/>
            <a:ext cx="2203704" cy="1920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10000"/>
              </a:lnSpc>
              <a:buNone/>
            </a:pPr>
            <a:r>
              <a:rPr lang="en-US" sz="1200" dirty="0">
                <a:solidFill>
                  <a:srgbClr val="1B2A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Une ressaisie manuelle répétitive pour chaque facture, au détriment de tâches à plus forte valeur ajoutée.</a:t>
            </a:r>
            <a:endParaRPr lang="en-US" sz="1200" dirty="0"/>
          </a:p>
        </p:txBody>
      </p:sp>
      <p:sp>
        <p:nvSpPr>
          <p:cNvPr id="9" name="Shape 6"/>
          <p:cNvSpPr/>
          <p:nvPr/>
        </p:nvSpPr>
        <p:spPr>
          <a:xfrm>
            <a:off x="3474720" y="1965960"/>
            <a:ext cx="2606040" cy="3840480"/>
          </a:xfrm>
          <a:prstGeom prst="rect">
            <a:avLst/>
          </a:prstGeom>
          <a:solidFill>
            <a:srgbClr val="EEF3FB"/>
          </a:solidFill>
          <a:ln/>
          <a:effectLst>
            <a:outerShdw blurRad="76200" dist="25400" dir="5400000" algn="bl" rotWithShape="0">
              <a:srgbClr val="1B2A55">
                <a:alpha val="12000"/>
              </a:srgbClr>
            </a:outerShdw>
          </a:effectLst>
        </p:spPr>
      </p:sp>
      <p:sp>
        <p:nvSpPr>
          <p:cNvPr id="10" name="Shape 7"/>
          <p:cNvSpPr/>
          <p:nvPr/>
        </p:nvSpPr>
        <p:spPr>
          <a:xfrm>
            <a:off x="4448556" y="2286000"/>
            <a:ext cx="658368" cy="658368"/>
          </a:xfrm>
          <a:prstGeom prst="ellipse">
            <a:avLst/>
          </a:prstGeom>
          <a:solidFill>
            <a:srgbClr val="1B2A55"/>
          </a:solidFill>
          <a:ln/>
        </p:spPr>
      </p:sp>
      <p:pic>
        <p:nvPicPr>
          <p:cNvPr id="11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594860" y="2432304"/>
            <a:ext cx="365760" cy="365760"/>
          </a:xfrm>
          <a:prstGeom prst="rect">
            <a:avLst/>
          </a:prstGeom>
        </p:spPr>
      </p:pic>
      <p:sp>
        <p:nvSpPr>
          <p:cNvPr id="12" name="Text 8"/>
          <p:cNvSpPr txBox="1"/>
          <p:nvPr/>
        </p:nvSpPr>
        <p:spPr>
          <a:xfrm>
            <a:off x="3611880" y="3154680"/>
            <a:ext cx="23317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1B2A5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Risque d'erreur</a:t>
            </a:r>
            <a:endParaRPr lang="en-US" sz="1500" dirty="0"/>
          </a:p>
        </p:txBody>
      </p:sp>
      <p:sp>
        <p:nvSpPr>
          <p:cNvPr id="13" name="Text 9"/>
          <p:cNvSpPr txBox="1"/>
          <p:nvPr/>
        </p:nvSpPr>
        <p:spPr>
          <a:xfrm>
            <a:off x="3675888" y="3749040"/>
            <a:ext cx="2203704" cy="1920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10000"/>
              </a:lnSpc>
              <a:buNone/>
            </a:pPr>
            <a:r>
              <a:rPr lang="en-US" sz="1200" dirty="0">
                <a:solidFill>
                  <a:srgbClr val="1B2A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Une imputation comptable incorrecte, en particulier pour un comptable peu expérimenté.</a:t>
            </a:r>
            <a:endParaRPr lang="en-US" sz="1200" dirty="0"/>
          </a:p>
        </p:txBody>
      </p:sp>
      <p:sp>
        <p:nvSpPr>
          <p:cNvPr id="14" name="Shape 10"/>
          <p:cNvSpPr/>
          <p:nvPr/>
        </p:nvSpPr>
        <p:spPr>
          <a:xfrm>
            <a:off x="6309360" y="1965960"/>
            <a:ext cx="2606040" cy="3840480"/>
          </a:xfrm>
          <a:prstGeom prst="rect">
            <a:avLst/>
          </a:prstGeom>
          <a:solidFill>
            <a:srgbClr val="EEF3FB"/>
          </a:solidFill>
          <a:ln/>
          <a:effectLst>
            <a:outerShdw blurRad="76200" dist="25400" dir="5400000" algn="bl" rotWithShape="0">
              <a:srgbClr val="1B2A55">
                <a:alpha val="12000"/>
              </a:srgbClr>
            </a:outerShdw>
          </a:effectLst>
        </p:spPr>
      </p:sp>
      <p:sp>
        <p:nvSpPr>
          <p:cNvPr id="15" name="Shape 11"/>
          <p:cNvSpPr/>
          <p:nvPr/>
        </p:nvSpPr>
        <p:spPr>
          <a:xfrm>
            <a:off x="7283196" y="2286000"/>
            <a:ext cx="658368" cy="658368"/>
          </a:xfrm>
          <a:prstGeom prst="ellipse">
            <a:avLst/>
          </a:prstGeom>
          <a:solidFill>
            <a:srgbClr val="1B2A55"/>
          </a:solidFill>
          <a:ln/>
        </p:spPr>
      </p:sp>
      <p:pic>
        <p:nvPicPr>
          <p:cNvPr id="16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429500" y="2432304"/>
            <a:ext cx="365760" cy="365760"/>
          </a:xfrm>
          <a:prstGeom prst="rect">
            <a:avLst/>
          </a:prstGeom>
        </p:spPr>
      </p:pic>
      <p:sp>
        <p:nvSpPr>
          <p:cNvPr id="17" name="Text 12"/>
          <p:cNvSpPr txBox="1"/>
          <p:nvPr/>
        </p:nvSpPr>
        <p:spPr>
          <a:xfrm>
            <a:off x="6446520" y="3154680"/>
            <a:ext cx="23317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1B2A5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Traçabilité limitée</a:t>
            </a:r>
            <a:endParaRPr lang="en-US" sz="1500" dirty="0"/>
          </a:p>
        </p:txBody>
      </p:sp>
      <p:sp>
        <p:nvSpPr>
          <p:cNvPr id="18" name="Text 13"/>
          <p:cNvSpPr txBox="1"/>
          <p:nvPr/>
        </p:nvSpPr>
        <p:spPr>
          <a:xfrm>
            <a:off x="6510528" y="3749040"/>
            <a:ext cx="2203704" cy="1920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10000"/>
              </a:lnSpc>
              <a:buNone/>
            </a:pPr>
            <a:r>
              <a:rPr lang="en-US" sz="1200" dirty="0">
                <a:solidFill>
                  <a:srgbClr val="1B2A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Peu de traçabilité systématique des corrections et décisions prises sur chaque facture.</a:t>
            </a:r>
            <a:endParaRPr lang="en-US" sz="1200" dirty="0"/>
          </a:p>
        </p:txBody>
      </p:sp>
      <p:sp>
        <p:nvSpPr>
          <p:cNvPr id="19" name="Shape 14"/>
          <p:cNvSpPr/>
          <p:nvPr/>
        </p:nvSpPr>
        <p:spPr>
          <a:xfrm>
            <a:off x="9144000" y="1965960"/>
            <a:ext cx="2606040" cy="3840480"/>
          </a:xfrm>
          <a:prstGeom prst="rect">
            <a:avLst/>
          </a:prstGeom>
          <a:solidFill>
            <a:srgbClr val="EEF3FB"/>
          </a:solidFill>
          <a:ln/>
          <a:effectLst>
            <a:outerShdw blurRad="76200" dist="25400" dir="5400000" algn="bl" rotWithShape="0">
              <a:srgbClr val="1B2A55">
                <a:alpha val="12000"/>
              </a:srgbClr>
            </a:outerShdw>
          </a:effectLst>
        </p:spPr>
      </p:sp>
      <p:sp>
        <p:nvSpPr>
          <p:cNvPr id="20" name="Shape 15"/>
          <p:cNvSpPr/>
          <p:nvPr/>
        </p:nvSpPr>
        <p:spPr>
          <a:xfrm>
            <a:off x="10117836" y="2286000"/>
            <a:ext cx="658368" cy="658368"/>
          </a:xfrm>
          <a:prstGeom prst="ellipse">
            <a:avLst/>
          </a:prstGeom>
          <a:solidFill>
            <a:srgbClr val="1B2A55"/>
          </a:solidFill>
          <a:ln/>
        </p:spPr>
      </p:sp>
      <p:pic>
        <p:nvPicPr>
          <p:cNvPr id="21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0264140" y="2432304"/>
            <a:ext cx="365760" cy="365760"/>
          </a:xfrm>
          <a:prstGeom prst="rect">
            <a:avLst/>
          </a:prstGeom>
        </p:spPr>
      </p:pic>
      <p:sp>
        <p:nvSpPr>
          <p:cNvPr id="22" name="Text 16"/>
          <p:cNvSpPr txBox="1"/>
          <p:nvPr/>
        </p:nvSpPr>
        <p:spPr>
          <a:xfrm>
            <a:off x="9281160" y="3154680"/>
            <a:ext cx="23317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1B2A5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Dépendance humaine</a:t>
            </a:r>
            <a:endParaRPr lang="en-US" sz="1500" dirty="0"/>
          </a:p>
        </p:txBody>
      </p:sp>
      <p:sp>
        <p:nvSpPr>
          <p:cNvPr id="23" name="Text 17"/>
          <p:cNvSpPr txBox="1"/>
          <p:nvPr/>
        </p:nvSpPr>
        <p:spPr>
          <a:xfrm>
            <a:off x="9345168" y="3749040"/>
            <a:ext cx="2203704" cy="1920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10000"/>
              </a:lnSpc>
              <a:buNone/>
            </a:pPr>
            <a:r>
              <a:rPr lang="en-US" sz="1200" dirty="0">
                <a:solidFill>
                  <a:srgbClr val="1B2A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Une forte dépendance à l'expertise individuelle du comptable en poste.</a:t>
            </a:r>
            <a:endParaRPr lang="en-US" sz="1200" dirty="0"/>
          </a:p>
        </p:txBody>
      </p:sp>
      <p:sp>
        <p:nvSpPr>
          <p:cNvPr id="24" name="Text 18"/>
          <p:cNvSpPr txBox="1"/>
          <p:nvPr/>
        </p:nvSpPr>
        <p:spPr>
          <a:xfrm>
            <a:off x="548640" y="6446520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5B6B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Compta-IA — Soutenance de mémoire</a:t>
            </a:r>
            <a:endParaRPr lang="en-US" sz="900" dirty="0"/>
          </a:p>
        </p:txBody>
      </p:sp>
      <p:sp>
        <p:nvSpPr>
          <p:cNvPr id="25" name="Text 19"/>
          <p:cNvSpPr txBox="1"/>
          <p:nvPr/>
        </p:nvSpPr>
        <p:spPr>
          <a:xfrm>
            <a:off x="11185855" y="644652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B6B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1B2A5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411480"/>
            <a:ext cx="11094415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OBJECTIFS DU PROJET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640080" y="1645920"/>
            <a:ext cx="10881360" cy="960120"/>
          </a:xfrm>
          <a:prstGeom prst="roundRect">
            <a:avLst>
              <a:gd name="adj" fmla="val 7619"/>
            </a:avLst>
          </a:prstGeom>
          <a:solidFill>
            <a:srgbClr val="121D3D"/>
          </a:solidFill>
          <a:ln/>
        </p:spPr>
      </p:sp>
      <p:sp>
        <p:nvSpPr>
          <p:cNvPr id="4" name="Shape 2"/>
          <p:cNvSpPr/>
          <p:nvPr/>
        </p:nvSpPr>
        <p:spPr>
          <a:xfrm>
            <a:off x="868680" y="1828800"/>
            <a:ext cx="566928" cy="566928"/>
          </a:xfrm>
          <a:prstGeom prst="ellipse">
            <a:avLst/>
          </a:prstGeom>
          <a:solidFill>
            <a:srgbClr val="D9A441"/>
          </a:solidFill>
          <a:ln/>
        </p:spPr>
      </p:sp>
      <p:pic>
        <p:nvPicPr>
          <p:cNvPr id="5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96696" y="1956816"/>
            <a:ext cx="310896" cy="310896"/>
          </a:xfrm>
          <a:prstGeom prst="rect">
            <a:avLst/>
          </a:prstGeom>
        </p:spPr>
      </p:pic>
      <p:sp>
        <p:nvSpPr>
          <p:cNvPr id="6" name="Text 3"/>
          <p:cNvSpPr txBox="1"/>
          <p:nvPr/>
        </p:nvSpPr>
        <p:spPr>
          <a:xfrm>
            <a:off x="1691640" y="1719072"/>
            <a:ext cx="96012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6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Automatiser la lecture et l'extraction des informations d'une facture fournisseur</a:t>
            </a:r>
            <a:endParaRPr lang="en-US" sz="1600" dirty="0"/>
          </a:p>
        </p:txBody>
      </p:sp>
      <p:sp>
        <p:nvSpPr>
          <p:cNvPr id="7" name="Shape 4"/>
          <p:cNvSpPr/>
          <p:nvPr/>
        </p:nvSpPr>
        <p:spPr>
          <a:xfrm>
            <a:off x="640080" y="2788920"/>
            <a:ext cx="10881360" cy="960120"/>
          </a:xfrm>
          <a:prstGeom prst="roundRect">
            <a:avLst>
              <a:gd name="adj" fmla="val 7619"/>
            </a:avLst>
          </a:prstGeom>
          <a:solidFill>
            <a:srgbClr val="121D3D"/>
          </a:solidFill>
          <a:ln/>
        </p:spPr>
      </p:sp>
      <p:sp>
        <p:nvSpPr>
          <p:cNvPr id="8" name="Shape 5"/>
          <p:cNvSpPr/>
          <p:nvPr/>
        </p:nvSpPr>
        <p:spPr>
          <a:xfrm>
            <a:off x="868680" y="2971800"/>
            <a:ext cx="566928" cy="566928"/>
          </a:xfrm>
          <a:prstGeom prst="ellipse">
            <a:avLst/>
          </a:prstGeom>
          <a:solidFill>
            <a:srgbClr val="D9A441"/>
          </a:solidFill>
          <a:ln/>
        </p:spPr>
      </p:sp>
      <p:pic>
        <p:nvPicPr>
          <p:cNvPr id="9" name="Image 1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96696" y="3099816"/>
            <a:ext cx="310896" cy="310896"/>
          </a:xfrm>
          <a:prstGeom prst="rect">
            <a:avLst/>
          </a:prstGeom>
        </p:spPr>
      </p:pic>
      <p:sp>
        <p:nvSpPr>
          <p:cNvPr id="10" name="Text 6"/>
          <p:cNvSpPr txBox="1"/>
          <p:nvPr/>
        </p:nvSpPr>
        <p:spPr>
          <a:xfrm>
            <a:off x="1691640" y="2862072"/>
            <a:ext cx="96012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6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Générer automatiquement une proposition d'écriture conforme au Plan Comptable Général malgache</a:t>
            </a:r>
            <a:endParaRPr lang="en-US" sz="1600" dirty="0"/>
          </a:p>
        </p:txBody>
      </p:sp>
      <p:sp>
        <p:nvSpPr>
          <p:cNvPr id="11" name="Shape 7"/>
          <p:cNvSpPr/>
          <p:nvPr/>
        </p:nvSpPr>
        <p:spPr>
          <a:xfrm>
            <a:off x="640080" y="3931920"/>
            <a:ext cx="10881360" cy="960120"/>
          </a:xfrm>
          <a:prstGeom prst="roundRect">
            <a:avLst>
              <a:gd name="adj" fmla="val 7619"/>
            </a:avLst>
          </a:prstGeom>
          <a:solidFill>
            <a:srgbClr val="121D3D"/>
          </a:solidFill>
          <a:ln/>
        </p:spPr>
      </p:sp>
      <p:sp>
        <p:nvSpPr>
          <p:cNvPr id="12" name="Shape 8"/>
          <p:cNvSpPr/>
          <p:nvPr/>
        </p:nvSpPr>
        <p:spPr>
          <a:xfrm>
            <a:off x="868680" y="4114800"/>
            <a:ext cx="566928" cy="566928"/>
          </a:xfrm>
          <a:prstGeom prst="ellipse">
            <a:avLst/>
          </a:prstGeom>
          <a:solidFill>
            <a:srgbClr val="D9A441"/>
          </a:solidFill>
          <a:ln/>
        </p:spPr>
      </p:sp>
      <p:pic>
        <p:nvPicPr>
          <p:cNvPr id="13" name="Image 2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96696" y="4242816"/>
            <a:ext cx="310896" cy="310896"/>
          </a:xfrm>
          <a:prstGeom prst="rect">
            <a:avLst/>
          </a:prstGeom>
        </p:spPr>
      </p:pic>
      <p:sp>
        <p:nvSpPr>
          <p:cNvPr id="14" name="Text 9"/>
          <p:cNvSpPr txBox="1"/>
          <p:nvPr/>
        </p:nvSpPr>
        <p:spPr>
          <a:xfrm>
            <a:off x="1691640" y="4005072"/>
            <a:ext cx="96012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6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Conserver l'humain comme décisionnaire final de chaque écriture</a:t>
            </a:r>
            <a:endParaRPr lang="en-US" sz="1600" dirty="0"/>
          </a:p>
        </p:txBody>
      </p:sp>
      <p:sp>
        <p:nvSpPr>
          <p:cNvPr id="15" name="Shape 10"/>
          <p:cNvSpPr/>
          <p:nvPr/>
        </p:nvSpPr>
        <p:spPr>
          <a:xfrm>
            <a:off x="640080" y="5074920"/>
            <a:ext cx="10881360" cy="960120"/>
          </a:xfrm>
          <a:prstGeom prst="roundRect">
            <a:avLst>
              <a:gd name="adj" fmla="val 7619"/>
            </a:avLst>
          </a:prstGeom>
          <a:solidFill>
            <a:srgbClr val="121D3D"/>
          </a:solidFill>
          <a:ln/>
        </p:spPr>
      </p:sp>
      <p:sp>
        <p:nvSpPr>
          <p:cNvPr id="16" name="Shape 11"/>
          <p:cNvSpPr/>
          <p:nvPr/>
        </p:nvSpPr>
        <p:spPr>
          <a:xfrm>
            <a:off x="868680" y="5257800"/>
            <a:ext cx="566928" cy="566928"/>
          </a:xfrm>
          <a:prstGeom prst="ellipse">
            <a:avLst/>
          </a:prstGeom>
          <a:solidFill>
            <a:srgbClr val="D9A441"/>
          </a:solidFill>
          <a:ln/>
        </p:spPr>
      </p:sp>
      <p:pic>
        <p:nvPicPr>
          <p:cNvPr id="17" name="Image 3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96696" y="5385816"/>
            <a:ext cx="310896" cy="310896"/>
          </a:xfrm>
          <a:prstGeom prst="rect">
            <a:avLst/>
          </a:prstGeom>
        </p:spPr>
      </p:pic>
      <p:sp>
        <p:nvSpPr>
          <p:cNvPr id="18" name="Text 12"/>
          <p:cNvSpPr txBox="1"/>
          <p:nvPr/>
        </p:nvSpPr>
        <p:spPr>
          <a:xfrm>
            <a:off x="1691640" y="5148072"/>
            <a:ext cx="96012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6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Garantir une traçabilité complète de chaque action réalisée sur le système</a:t>
            </a:r>
            <a:endParaRPr lang="en-US" sz="1600" dirty="0"/>
          </a:p>
        </p:txBody>
      </p:sp>
      <p:sp>
        <p:nvSpPr>
          <p:cNvPr id="19" name="Text 13"/>
          <p:cNvSpPr txBox="1"/>
          <p:nvPr/>
        </p:nvSpPr>
        <p:spPr>
          <a:xfrm>
            <a:off x="548640" y="6446520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8C99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Compta-IA — Soutenance de mémoire</a:t>
            </a:r>
            <a:endParaRPr lang="en-US" sz="900" dirty="0"/>
          </a:p>
        </p:txBody>
      </p:sp>
      <p:sp>
        <p:nvSpPr>
          <p:cNvPr id="20" name="Text 14"/>
          <p:cNvSpPr txBox="1"/>
          <p:nvPr/>
        </p:nvSpPr>
        <p:spPr>
          <a:xfrm>
            <a:off x="11185855" y="644652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8C99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411480"/>
            <a:ext cx="11094415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000" b="1" dirty="0">
                <a:solidFill>
                  <a:srgbClr val="1B2A5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CONCEPTS THÉORIQUES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640080" y="1371600"/>
            <a:ext cx="5212080" cy="4754880"/>
          </a:xfrm>
          <a:prstGeom prst="rect">
            <a:avLst/>
          </a:prstGeom>
          <a:solidFill>
            <a:srgbClr val="EEF3FB"/>
          </a:solidFill>
          <a:ln/>
        </p:spPr>
      </p:sp>
      <p:sp>
        <p:nvSpPr>
          <p:cNvPr id="4" name="Shape 2"/>
          <p:cNvSpPr/>
          <p:nvPr/>
        </p:nvSpPr>
        <p:spPr>
          <a:xfrm>
            <a:off x="896112" y="1627632"/>
            <a:ext cx="594360" cy="594360"/>
          </a:xfrm>
          <a:prstGeom prst="ellipse">
            <a:avLst/>
          </a:prstGeom>
          <a:solidFill>
            <a:srgbClr val="1B2A55"/>
          </a:solidFill>
          <a:ln/>
        </p:spPr>
      </p:sp>
      <p:pic>
        <p:nvPicPr>
          <p:cNvPr id="5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24128" y="1755648"/>
            <a:ext cx="338328" cy="338328"/>
          </a:xfrm>
          <a:prstGeom prst="rect">
            <a:avLst/>
          </a:prstGeom>
        </p:spPr>
      </p:pic>
      <p:sp>
        <p:nvSpPr>
          <p:cNvPr id="6" name="Text 3"/>
          <p:cNvSpPr txBox="1"/>
          <p:nvPr/>
        </p:nvSpPr>
        <p:spPr>
          <a:xfrm>
            <a:off x="1627632" y="1691640"/>
            <a:ext cx="4023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700" b="1" dirty="0">
                <a:solidFill>
                  <a:srgbClr val="1B2A5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Fondements comptables</a:t>
            </a:r>
            <a:endParaRPr lang="en-US" sz="1700" dirty="0"/>
          </a:p>
        </p:txBody>
      </p:sp>
      <p:sp>
        <p:nvSpPr>
          <p:cNvPr id="7" name="Text 4"/>
          <p:cNvSpPr txBox="1"/>
          <p:nvPr/>
        </p:nvSpPr>
        <p:spPr>
          <a:xfrm>
            <a:off x="914400" y="2468880"/>
            <a:ext cx="466344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lnSpc>
                <a:spcPct val="115000"/>
              </a:lnSpc>
              <a:buSzPct val="100000"/>
              <a:buChar char="●"/>
            </a:pPr>
            <a:r>
              <a:rPr lang="en-US" sz="1300" dirty="0">
                <a:solidFill>
                  <a:srgbClr val="1B2A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 partie double : chaque écriture doit être équilibrée (total débit = total crédit).</a:t>
            </a:r>
            <a:endParaRPr lang="en-US" sz="1300" dirty="0"/>
          </a:p>
        </p:txBody>
      </p:sp>
      <p:sp>
        <p:nvSpPr>
          <p:cNvPr id="8" name="Text 5"/>
          <p:cNvSpPr txBox="1"/>
          <p:nvPr/>
        </p:nvSpPr>
        <p:spPr>
          <a:xfrm>
            <a:off x="914400" y="3611880"/>
            <a:ext cx="466344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lnSpc>
                <a:spcPct val="115000"/>
              </a:lnSpc>
              <a:buSzPct val="100000"/>
              <a:buChar char="●"/>
            </a:pPr>
            <a:r>
              <a:rPr lang="en-US" sz="1300" dirty="0">
                <a:solidFill>
                  <a:srgbClr val="1B2A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 Plan Comptable Général malgache 2005 (PCG), qui fixe les comptes et leurs règles d'usage.</a:t>
            </a:r>
            <a:endParaRPr lang="en-US" sz="1300" dirty="0"/>
          </a:p>
        </p:txBody>
      </p:sp>
      <p:sp>
        <p:nvSpPr>
          <p:cNvPr id="9" name="Text 6"/>
          <p:cNvSpPr txBox="1"/>
          <p:nvPr/>
        </p:nvSpPr>
        <p:spPr>
          <a:xfrm>
            <a:off x="914400" y="4754880"/>
            <a:ext cx="466344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lnSpc>
                <a:spcPct val="115000"/>
              </a:lnSpc>
              <a:buSzPct val="100000"/>
              <a:buChar char="●"/>
            </a:pPr>
            <a:r>
              <a:rPr lang="en-US" sz="1300" dirty="0">
                <a:solidFill>
                  <a:srgbClr val="1B2A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 facture d'avoir (note de crédit) : une écriture au sens inversé par rapport à un achat normal.</a:t>
            </a:r>
            <a:endParaRPr lang="en-US" sz="1300" dirty="0"/>
          </a:p>
        </p:txBody>
      </p:sp>
      <p:sp>
        <p:nvSpPr>
          <p:cNvPr id="10" name="Shape 7"/>
          <p:cNvSpPr/>
          <p:nvPr/>
        </p:nvSpPr>
        <p:spPr>
          <a:xfrm>
            <a:off x="6309360" y="1371600"/>
            <a:ext cx="5212080" cy="4754880"/>
          </a:xfrm>
          <a:prstGeom prst="rect">
            <a:avLst/>
          </a:prstGeom>
          <a:solidFill>
            <a:srgbClr val="1B2A55"/>
          </a:solidFill>
          <a:ln/>
        </p:spPr>
      </p:sp>
      <p:sp>
        <p:nvSpPr>
          <p:cNvPr id="11" name="Shape 8"/>
          <p:cNvSpPr/>
          <p:nvPr/>
        </p:nvSpPr>
        <p:spPr>
          <a:xfrm>
            <a:off x="6565392" y="1627632"/>
            <a:ext cx="594360" cy="594360"/>
          </a:xfrm>
          <a:prstGeom prst="ellipse">
            <a:avLst/>
          </a:prstGeom>
          <a:solidFill>
            <a:srgbClr val="D9A441"/>
          </a:solidFill>
          <a:ln/>
        </p:spPr>
      </p:sp>
      <p:pic>
        <p:nvPicPr>
          <p:cNvPr id="12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693408" y="1755648"/>
            <a:ext cx="338328" cy="338328"/>
          </a:xfrm>
          <a:prstGeom prst="rect">
            <a:avLst/>
          </a:prstGeom>
        </p:spPr>
      </p:pic>
      <p:sp>
        <p:nvSpPr>
          <p:cNvPr id="13" name="Text 9"/>
          <p:cNvSpPr txBox="1"/>
          <p:nvPr/>
        </p:nvSpPr>
        <p:spPr>
          <a:xfrm>
            <a:off x="7296912" y="1691640"/>
            <a:ext cx="4023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7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Fondements techniques (IA)</a:t>
            </a:r>
            <a:endParaRPr lang="en-US" sz="1700" dirty="0"/>
          </a:p>
        </p:txBody>
      </p:sp>
      <p:sp>
        <p:nvSpPr>
          <p:cNvPr id="14" name="Text 10"/>
          <p:cNvSpPr txBox="1"/>
          <p:nvPr/>
        </p:nvSpPr>
        <p:spPr>
          <a:xfrm>
            <a:off x="6583680" y="2468880"/>
            <a:ext cx="466344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lnSpc>
                <a:spcPct val="115000"/>
              </a:lnSpc>
              <a:buSzPct val="100000"/>
              <a:buChar char="●"/>
            </a:pPr>
            <a:r>
              <a:rPr lang="en-US" sz="1300" dirty="0">
                <a:solidFill>
                  <a:srgbClr val="EEF3F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OCR (reconnaissance optique de caractères) : convertir l'image d'une facture en texte exploitable.</a:t>
            </a:r>
            <a:endParaRPr lang="en-US" sz="1300" dirty="0"/>
          </a:p>
        </p:txBody>
      </p:sp>
      <p:sp>
        <p:nvSpPr>
          <p:cNvPr id="15" name="Text 11"/>
          <p:cNvSpPr txBox="1"/>
          <p:nvPr/>
        </p:nvSpPr>
        <p:spPr>
          <a:xfrm>
            <a:off x="6583680" y="3611880"/>
            <a:ext cx="466344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lnSpc>
                <a:spcPct val="115000"/>
              </a:lnSpc>
              <a:buSzPct val="100000"/>
              <a:buChar char="●"/>
            </a:pPr>
            <a:r>
              <a:rPr lang="en-US" sz="1300" dirty="0">
                <a:solidFill>
                  <a:srgbClr val="EEF3F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NLP (traitement automatique du langage naturel) : repérer des informations dans un texte libre (fournisseur, montants...).</a:t>
            </a:r>
            <a:endParaRPr lang="en-US" sz="1300" dirty="0"/>
          </a:p>
        </p:txBody>
      </p:sp>
      <p:sp>
        <p:nvSpPr>
          <p:cNvPr id="16" name="Text 12"/>
          <p:cNvSpPr txBox="1"/>
          <p:nvPr/>
        </p:nvSpPr>
        <p:spPr>
          <a:xfrm>
            <a:off x="6583680" y="4754880"/>
            <a:ext cx="466344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lnSpc>
                <a:spcPct val="115000"/>
              </a:lnSpc>
              <a:buSzPct val="100000"/>
              <a:buChar char="●"/>
            </a:pPr>
            <a:r>
              <a:rPr lang="en-US" sz="1300" dirty="0">
                <a:solidFill>
                  <a:srgbClr val="EEF3F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Machine Learning (apprentissage automatique) : classer automatiquement le type d'opération à partir d'exemples déjà validés.</a:t>
            </a:r>
            <a:endParaRPr lang="en-US" sz="1300" dirty="0"/>
          </a:p>
        </p:txBody>
      </p:sp>
      <p:sp>
        <p:nvSpPr>
          <p:cNvPr id="17" name="Text 13"/>
          <p:cNvSpPr txBox="1"/>
          <p:nvPr/>
        </p:nvSpPr>
        <p:spPr>
          <a:xfrm>
            <a:off x="548640" y="6446520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5B6B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Compta-IA — Soutenance de mémoire</a:t>
            </a:r>
            <a:endParaRPr lang="en-US" sz="900" dirty="0"/>
          </a:p>
        </p:txBody>
      </p:sp>
      <p:sp>
        <p:nvSpPr>
          <p:cNvPr id="18" name="Text 14"/>
          <p:cNvSpPr txBox="1"/>
          <p:nvPr/>
        </p:nvSpPr>
        <p:spPr>
          <a:xfrm>
            <a:off x="11185855" y="644652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B6B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9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411480"/>
            <a:ext cx="11094415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000" b="1" dirty="0">
                <a:solidFill>
                  <a:srgbClr val="1B2A5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OUTILS ET TECHNOLOGIES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640080" y="1417320"/>
            <a:ext cx="3520440" cy="1920240"/>
          </a:xfrm>
          <a:prstGeom prst="rect">
            <a:avLst/>
          </a:prstGeom>
          <a:solidFill>
            <a:srgbClr val="EEF3FB"/>
          </a:solidFill>
          <a:ln/>
          <a:effectLst>
            <a:outerShdw blurRad="63500" dist="25400" dir="5400000" algn="bl" rotWithShape="0">
              <a:srgbClr val="1B2A55">
                <a:alpha val="10000"/>
              </a:srgbClr>
            </a:outerShdw>
          </a:effectLst>
        </p:spPr>
      </p:sp>
      <p:sp>
        <p:nvSpPr>
          <p:cNvPr id="4" name="Shape 2"/>
          <p:cNvSpPr/>
          <p:nvPr/>
        </p:nvSpPr>
        <p:spPr>
          <a:xfrm>
            <a:off x="868680" y="1645920"/>
            <a:ext cx="530352" cy="530352"/>
          </a:xfrm>
          <a:prstGeom prst="ellipse">
            <a:avLst/>
          </a:prstGeom>
          <a:solidFill>
            <a:srgbClr val="D9A441"/>
          </a:solidFill>
          <a:ln/>
        </p:spPr>
      </p:sp>
      <p:pic>
        <p:nvPicPr>
          <p:cNvPr id="5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87552" y="1764792"/>
            <a:ext cx="292608" cy="292608"/>
          </a:xfrm>
          <a:prstGeom prst="rect">
            <a:avLst/>
          </a:prstGeom>
        </p:spPr>
      </p:pic>
      <p:sp>
        <p:nvSpPr>
          <p:cNvPr id="6" name="Text 3"/>
          <p:cNvSpPr txBox="1"/>
          <p:nvPr/>
        </p:nvSpPr>
        <p:spPr>
          <a:xfrm>
            <a:off x="1536192" y="1581912"/>
            <a:ext cx="246888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b="1" dirty="0">
                <a:solidFill>
                  <a:srgbClr val="1B2A5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Python</a:t>
            </a:r>
            <a:endParaRPr lang="en-US" sz="1300" dirty="0"/>
          </a:p>
        </p:txBody>
      </p:sp>
      <p:sp>
        <p:nvSpPr>
          <p:cNvPr id="7" name="Text 4"/>
          <p:cNvSpPr txBox="1"/>
          <p:nvPr/>
        </p:nvSpPr>
        <p:spPr>
          <a:xfrm>
            <a:off x="868680" y="2377440"/>
            <a:ext cx="30632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10000"/>
              </a:lnSpc>
              <a:buNone/>
            </a:pPr>
            <a:r>
              <a:rPr lang="en-US" sz="1150" dirty="0">
                <a:solidFill>
                  <a:srgbClr val="1B2A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Langage principal du backend et du module d'intelligence artificielle</a:t>
            </a:r>
            <a:endParaRPr lang="en-US" sz="1150" dirty="0"/>
          </a:p>
        </p:txBody>
      </p:sp>
      <p:sp>
        <p:nvSpPr>
          <p:cNvPr id="8" name="Shape 5"/>
          <p:cNvSpPr/>
          <p:nvPr/>
        </p:nvSpPr>
        <p:spPr>
          <a:xfrm>
            <a:off x="4389120" y="1417320"/>
            <a:ext cx="3520440" cy="1920240"/>
          </a:xfrm>
          <a:prstGeom prst="rect">
            <a:avLst/>
          </a:prstGeom>
          <a:solidFill>
            <a:srgbClr val="EEF3FB"/>
          </a:solidFill>
          <a:ln/>
          <a:effectLst>
            <a:outerShdw blurRad="63500" dist="25400" dir="5400000" algn="bl" rotWithShape="0">
              <a:srgbClr val="1B2A55">
                <a:alpha val="10000"/>
              </a:srgbClr>
            </a:outerShdw>
          </a:effectLst>
        </p:spPr>
      </p:sp>
      <p:sp>
        <p:nvSpPr>
          <p:cNvPr id="9" name="Shape 6"/>
          <p:cNvSpPr/>
          <p:nvPr/>
        </p:nvSpPr>
        <p:spPr>
          <a:xfrm>
            <a:off x="4617720" y="1645920"/>
            <a:ext cx="530352" cy="530352"/>
          </a:xfrm>
          <a:prstGeom prst="ellipse">
            <a:avLst/>
          </a:prstGeom>
          <a:solidFill>
            <a:srgbClr val="D9A441"/>
          </a:solidFill>
          <a:ln/>
        </p:spPr>
      </p:sp>
      <p:pic>
        <p:nvPicPr>
          <p:cNvPr id="10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736592" y="1764792"/>
            <a:ext cx="292608" cy="292608"/>
          </a:xfrm>
          <a:prstGeom prst="rect">
            <a:avLst/>
          </a:prstGeom>
        </p:spPr>
      </p:pic>
      <p:sp>
        <p:nvSpPr>
          <p:cNvPr id="11" name="Text 7"/>
          <p:cNvSpPr txBox="1"/>
          <p:nvPr/>
        </p:nvSpPr>
        <p:spPr>
          <a:xfrm>
            <a:off x="5285232" y="1581912"/>
            <a:ext cx="246888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b="1" dirty="0">
                <a:solidFill>
                  <a:srgbClr val="1B2A5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FastAPI</a:t>
            </a:r>
            <a:endParaRPr lang="en-US" sz="1300" dirty="0"/>
          </a:p>
        </p:txBody>
      </p:sp>
      <p:sp>
        <p:nvSpPr>
          <p:cNvPr id="12" name="Text 8"/>
          <p:cNvSpPr txBox="1"/>
          <p:nvPr/>
        </p:nvSpPr>
        <p:spPr>
          <a:xfrm>
            <a:off x="4617720" y="2377440"/>
            <a:ext cx="30632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10000"/>
              </a:lnSpc>
              <a:buNone/>
            </a:pPr>
            <a:r>
              <a:rPr lang="en-US" sz="1150" dirty="0">
                <a:solidFill>
                  <a:srgbClr val="1B2A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Framework web du serveur applicatif (API REST)</a:t>
            </a:r>
            <a:endParaRPr lang="en-US" sz="1150" dirty="0"/>
          </a:p>
        </p:txBody>
      </p:sp>
      <p:sp>
        <p:nvSpPr>
          <p:cNvPr id="13" name="Shape 9"/>
          <p:cNvSpPr/>
          <p:nvPr/>
        </p:nvSpPr>
        <p:spPr>
          <a:xfrm>
            <a:off x="8138160" y="1417320"/>
            <a:ext cx="3520440" cy="1920240"/>
          </a:xfrm>
          <a:prstGeom prst="rect">
            <a:avLst/>
          </a:prstGeom>
          <a:solidFill>
            <a:srgbClr val="EEF3FB"/>
          </a:solidFill>
          <a:ln/>
          <a:effectLst>
            <a:outerShdw blurRad="63500" dist="25400" dir="5400000" algn="bl" rotWithShape="0">
              <a:srgbClr val="1B2A55">
                <a:alpha val="10000"/>
              </a:srgbClr>
            </a:outerShdw>
          </a:effectLst>
        </p:spPr>
      </p:sp>
      <p:sp>
        <p:nvSpPr>
          <p:cNvPr id="14" name="Shape 10"/>
          <p:cNvSpPr/>
          <p:nvPr/>
        </p:nvSpPr>
        <p:spPr>
          <a:xfrm>
            <a:off x="8366760" y="1645920"/>
            <a:ext cx="530352" cy="530352"/>
          </a:xfrm>
          <a:prstGeom prst="ellipse">
            <a:avLst/>
          </a:prstGeom>
          <a:solidFill>
            <a:srgbClr val="D9A441"/>
          </a:solidFill>
          <a:ln/>
        </p:spPr>
      </p:sp>
      <p:pic>
        <p:nvPicPr>
          <p:cNvPr id="15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485632" y="1764792"/>
            <a:ext cx="292608" cy="292608"/>
          </a:xfrm>
          <a:prstGeom prst="rect">
            <a:avLst/>
          </a:prstGeom>
        </p:spPr>
      </p:pic>
      <p:sp>
        <p:nvSpPr>
          <p:cNvPr id="16" name="Text 11"/>
          <p:cNvSpPr txBox="1"/>
          <p:nvPr/>
        </p:nvSpPr>
        <p:spPr>
          <a:xfrm>
            <a:off x="9034272" y="1581912"/>
            <a:ext cx="246888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b="1" dirty="0">
                <a:solidFill>
                  <a:srgbClr val="1B2A5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React + TypeScript</a:t>
            </a:r>
            <a:endParaRPr lang="en-US" sz="1300" dirty="0"/>
          </a:p>
        </p:txBody>
      </p:sp>
      <p:sp>
        <p:nvSpPr>
          <p:cNvPr id="17" name="Text 12"/>
          <p:cNvSpPr txBox="1"/>
          <p:nvPr/>
        </p:nvSpPr>
        <p:spPr>
          <a:xfrm>
            <a:off x="8366760" y="2377440"/>
            <a:ext cx="30632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10000"/>
              </a:lnSpc>
              <a:buNone/>
            </a:pPr>
            <a:r>
              <a:rPr lang="en-US" sz="1150" dirty="0">
                <a:solidFill>
                  <a:srgbClr val="1B2A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Interface utilisateur web, sécurisée par le typage statique</a:t>
            </a:r>
            <a:endParaRPr lang="en-US" sz="1150" dirty="0"/>
          </a:p>
        </p:txBody>
      </p:sp>
      <p:sp>
        <p:nvSpPr>
          <p:cNvPr id="18" name="Shape 13"/>
          <p:cNvSpPr/>
          <p:nvPr/>
        </p:nvSpPr>
        <p:spPr>
          <a:xfrm>
            <a:off x="640080" y="3611880"/>
            <a:ext cx="3520440" cy="1920240"/>
          </a:xfrm>
          <a:prstGeom prst="rect">
            <a:avLst/>
          </a:prstGeom>
          <a:solidFill>
            <a:srgbClr val="EEF3FB"/>
          </a:solidFill>
          <a:ln/>
          <a:effectLst>
            <a:outerShdw blurRad="63500" dist="25400" dir="5400000" algn="bl" rotWithShape="0">
              <a:srgbClr val="1B2A55">
                <a:alpha val="10000"/>
              </a:srgbClr>
            </a:outerShdw>
          </a:effectLst>
        </p:spPr>
      </p:sp>
      <p:sp>
        <p:nvSpPr>
          <p:cNvPr id="19" name="Shape 14"/>
          <p:cNvSpPr/>
          <p:nvPr/>
        </p:nvSpPr>
        <p:spPr>
          <a:xfrm>
            <a:off x="868680" y="3840480"/>
            <a:ext cx="530352" cy="530352"/>
          </a:xfrm>
          <a:prstGeom prst="ellipse">
            <a:avLst/>
          </a:prstGeom>
          <a:solidFill>
            <a:srgbClr val="D9A441"/>
          </a:solidFill>
          <a:ln/>
        </p:spPr>
      </p:sp>
      <p:pic>
        <p:nvPicPr>
          <p:cNvPr id="20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987552" y="3959352"/>
            <a:ext cx="292608" cy="292608"/>
          </a:xfrm>
          <a:prstGeom prst="rect">
            <a:avLst/>
          </a:prstGeom>
        </p:spPr>
      </p:pic>
      <p:sp>
        <p:nvSpPr>
          <p:cNvPr id="21" name="Text 15"/>
          <p:cNvSpPr txBox="1"/>
          <p:nvPr/>
        </p:nvSpPr>
        <p:spPr>
          <a:xfrm>
            <a:off x="1536192" y="3776472"/>
            <a:ext cx="246888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b="1" dirty="0">
                <a:solidFill>
                  <a:srgbClr val="1B2A5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MySQL</a:t>
            </a:r>
            <a:endParaRPr lang="en-US" sz="1300" dirty="0"/>
          </a:p>
        </p:txBody>
      </p:sp>
      <p:sp>
        <p:nvSpPr>
          <p:cNvPr id="22" name="Text 16"/>
          <p:cNvSpPr txBox="1"/>
          <p:nvPr/>
        </p:nvSpPr>
        <p:spPr>
          <a:xfrm>
            <a:off x="868680" y="4572000"/>
            <a:ext cx="30632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10000"/>
              </a:lnSpc>
              <a:buNone/>
            </a:pPr>
            <a:r>
              <a:rPr lang="en-US" sz="1150" dirty="0">
                <a:solidFill>
                  <a:srgbClr val="1B2A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Base de données relationnelle, garante de la rigueur comptable</a:t>
            </a:r>
            <a:endParaRPr lang="en-US" sz="1150" dirty="0"/>
          </a:p>
        </p:txBody>
      </p:sp>
      <p:sp>
        <p:nvSpPr>
          <p:cNvPr id="23" name="Shape 17"/>
          <p:cNvSpPr/>
          <p:nvPr/>
        </p:nvSpPr>
        <p:spPr>
          <a:xfrm>
            <a:off x="4389120" y="3611880"/>
            <a:ext cx="3520440" cy="1920240"/>
          </a:xfrm>
          <a:prstGeom prst="rect">
            <a:avLst/>
          </a:prstGeom>
          <a:solidFill>
            <a:srgbClr val="EEF3FB"/>
          </a:solidFill>
          <a:ln/>
          <a:effectLst>
            <a:outerShdw blurRad="63500" dist="25400" dir="5400000" algn="bl" rotWithShape="0">
              <a:srgbClr val="1B2A55">
                <a:alpha val="10000"/>
              </a:srgbClr>
            </a:outerShdw>
          </a:effectLst>
        </p:spPr>
      </p:sp>
      <p:sp>
        <p:nvSpPr>
          <p:cNvPr id="24" name="Shape 18"/>
          <p:cNvSpPr/>
          <p:nvPr/>
        </p:nvSpPr>
        <p:spPr>
          <a:xfrm>
            <a:off x="4617720" y="3840480"/>
            <a:ext cx="530352" cy="530352"/>
          </a:xfrm>
          <a:prstGeom prst="ellipse">
            <a:avLst/>
          </a:prstGeom>
          <a:solidFill>
            <a:srgbClr val="D9A441"/>
          </a:solidFill>
          <a:ln/>
        </p:spPr>
      </p:sp>
      <p:pic>
        <p:nvPicPr>
          <p:cNvPr id="25" name="Image 4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4736592" y="3959352"/>
            <a:ext cx="292608" cy="292608"/>
          </a:xfrm>
          <a:prstGeom prst="rect">
            <a:avLst/>
          </a:prstGeom>
        </p:spPr>
      </p:pic>
      <p:sp>
        <p:nvSpPr>
          <p:cNvPr id="26" name="Text 19"/>
          <p:cNvSpPr txBox="1"/>
          <p:nvPr/>
        </p:nvSpPr>
        <p:spPr>
          <a:xfrm>
            <a:off x="5285232" y="3776472"/>
            <a:ext cx="246888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b="1" dirty="0">
                <a:solidFill>
                  <a:srgbClr val="1B2A5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EasyOCR / Tesseract</a:t>
            </a:r>
            <a:endParaRPr lang="en-US" sz="1300" dirty="0"/>
          </a:p>
        </p:txBody>
      </p:sp>
      <p:sp>
        <p:nvSpPr>
          <p:cNvPr id="27" name="Text 20"/>
          <p:cNvSpPr txBox="1"/>
          <p:nvPr/>
        </p:nvSpPr>
        <p:spPr>
          <a:xfrm>
            <a:off x="4617720" y="4572000"/>
            <a:ext cx="30632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10000"/>
              </a:lnSpc>
              <a:buNone/>
            </a:pPr>
            <a:r>
              <a:rPr lang="en-US" sz="1150" dirty="0">
                <a:solidFill>
                  <a:srgbClr val="1B2A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Moteurs de lecture automatique des factures (avec repli)</a:t>
            </a:r>
            <a:endParaRPr lang="en-US" sz="1150" dirty="0"/>
          </a:p>
        </p:txBody>
      </p:sp>
      <p:sp>
        <p:nvSpPr>
          <p:cNvPr id="28" name="Shape 21"/>
          <p:cNvSpPr/>
          <p:nvPr/>
        </p:nvSpPr>
        <p:spPr>
          <a:xfrm>
            <a:off x="8138160" y="3611880"/>
            <a:ext cx="3520440" cy="1920240"/>
          </a:xfrm>
          <a:prstGeom prst="rect">
            <a:avLst/>
          </a:prstGeom>
          <a:solidFill>
            <a:srgbClr val="EEF3FB"/>
          </a:solidFill>
          <a:ln/>
          <a:effectLst>
            <a:outerShdw blurRad="63500" dist="25400" dir="5400000" algn="bl" rotWithShape="0">
              <a:srgbClr val="1B2A55">
                <a:alpha val="10000"/>
              </a:srgbClr>
            </a:outerShdw>
          </a:effectLst>
        </p:spPr>
      </p:sp>
      <p:sp>
        <p:nvSpPr>
          <p:cNvPr id="29" name="Shape 22"/>
          <p:cNvSpPr/>
          <p:nvPr/>
        </p:nvSpPr>
        <p:spPr>
          <a:xfrm>
            <a:off x="8366760" y="3840480"/>
            <a:ext cx="530352" cy="530352"/>
          </a:xfrm>
          <a:prstGeom prst="ellipse">
            <a:avLst/>
          </a:prstGeom>
          <a:solidFill>
            <a:srgbClr val="D9A441"/>
          </a:solidFill>
          <a:ln/>
        </p:spPr>
      </p:sp>
      <p:pic>
        <p:nvPicPr>
          <p:cNvPr id="30" name="Image 5" descr="preencoded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8485632" y="3959352"/>
            <a:ext cx="292608" cy="292608"/>
          </a:xfrm>
          <a:prstGeom prst="rect">
            <a:avLst/>
          </a:prstGeom>
        </p:spPr>
      </p:pic>
      <p:sp>
        <p:nvSpPr>
          <p:cNvPr id="31" name="Text 23"/>
          <p:cNvSpPr txBox="1"/>
          <p:nvPr/>
        </p:nvSpPr>
        <p:spPr>
          <a:xfrm>
            <a:off x="9034272" y="3776472"/>
            <a:ext cx="246888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b="1" dirty="0">
                <a:solidFill>
                  <a:srgbClr val="1B2A5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spaCy / scikit-learn / XGBoost</a:t>
            </a:r>
            <a:endParaRPr lang="en-US" sz="1300" dirty="0"/>
          </a:p>
        </p:txBody>
      </p:sp>
      <p:sp>
        <p:nvSpPr>
          <p:cNvPr id="32" name="Text 24"/>
          <p:cNvSpPr txBox="1"/>
          <p:nvPr/>
        </p:nvSpPr>
        <p:spPr>
          <a:xfrm>
            <a:off x="8366760" y="4572000"/>
            <a:ext cx="30632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10000"/>
              </a:lnSpc>
              <a:buNone/>
            </a:pPr>
            <a:r>
              <a:rPr lang="en-US" sz="1150" dirty="0">
                <a:solidFill>
                  <a:srgbClr val="1B2A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Traitement du langage et classification par apprentissage</a:t>
            </a:r>
            <a:endParaRPr lang="en-US" sz="1150" dirty="0"/>
          </a:p>
        </p:txBody>
      </p:sp>
      <p:sp>
        <p:nvSpPr>
          <p:cNvPr id="33" name="Text 25"/>
          <p:cNvSpPr txBox="1"/>
          <p:nvPr/>
        </p:nvSpPr>
        <p:spPr>
          <a:xfrm>
            <a:off x="548640" y="6446520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5B6B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Compta-IA — Soutenance de mémoire</a:t>
            </a:r>
            <a:endParaRPr lang="en-US" sz="900" dirty="0"/>
          </a:p>
        </p:txBody>
      </p:sp>
      <p:sp>
        <p:nvSpPr>
          <p:cNvPr id="34" name="Text 26"/>
          <p:cNvSpPr txBox="1"/>
          <p:nvPr/>
        </p:nvSpPr>
        <p:spPr>
          <a:xfrm>
            <a:off x="11185855" y="644652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B6B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9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411480"/>
            <a:ext cx="11094415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000" b="1" dirty="0">
                <a:solidFill>
                  <a:srgbClr val="1B2A5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ARCHITECTURE LOGICIELLE</a:t>
            </a:r>
            <a:endParaRPr lang="en-US" sz="300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1143000"/>
            <a:ext cx="108813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i="1" dirty="0">
                <a:solidFill>
                  <a:srgbClr val="5B6B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Architecture en couches, adaptée de la Clean Architecture : le domaine ne connaît ni FastAPI, ni MySQL, ni EasyOCR.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2793671" y="1399032"/>
            <a:ext cx="6604353" cy="5157216"/>
          </a:xfrm>
          <a:prstGeom prst="rect">
            <a:avLst/>
          </a:prstGeom>
          <a:solidFill>
            <a:srgbClr val="EEF3FB"/>
          </a:solidFill>
          <a:ln/>
          <a:effectLst>
            <a:outerShdw blurRad="101600" dist="38100" dir="5400000" algn="bl" rotWithShape="0">
              <a:srgbClr val="1B2A55">
                <a:alpha val="18000"/>
              </a:srgbClr>
            </a:outerShdw>
          </a:effectLst>
        </p:spPr>
      </p:sp>
      <p:pic>
        <p:nvPicPr>
          <p:cNvPr id="5" name="Image 0" descr="architectur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994839" y="1600200"/>
            <a:ext cx="6202017" cy="4754880"/>
          </a:xfrm>
          <a:prstGeom prst="rect">
            <a:avLst/>
          </a:prstGeom>
        </p:spPr>
      </p:pic>
      <p:sp>
        <p:nvSpPr>
          <p:cNvPr id="6" name="Text 3"/>
          <p:cNvSpPr txBox="1"/>
          <p:nvPr/>
        </p:nvSpPr>
        <p:spPr>
          <a:xfrm>
            <a:off x="548640" y="6446520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5B6B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Compta-IA — Soutenance de mémoire</a:t>
            </a:r>
            <a:endParaRPr lang="en-US" sz="900" dirty="0"/>
          </a:p>
        </p:txBody>
      </p:sp>
      <p:sp>
        <p:nvSpPr>
          <p:cNvPr id="7" name="Text 4"/>
          <p:cNvSpPr txBox="1"/>
          <p:nvPr/>
        </p:nvSpPr>
        <p:spPr>
          <a:xfrm>
            <a:off x="11185855" y="644652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B6B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</a:t>
            </a:r>
            <a:endParaRPr lang="en-US" sz="9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1B2A5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65760"/>
            <a:ext cx="11094415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PIPELINE DE TRAITEMENT IA</a:t>
            </a:r>
            <a:endParaRPr lang="en-US" sz="28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960120"/>
            <a:ext cx="11094415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i="1" dirty="0">
                <a:solidFill>
                  <a:srgbClr val="AFC0E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 l'import de la facture à la validation comptable, sous supervision humaine à chaque étape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499720" y="1918016"/>
            <a:ext cx="11192256" cy="4485008"/>
          </a:xfrm>
          <a:prstGeom prst="rect">
            <a:avLst/>
          </a:prstGeom>
          <a:solidFill>
            <a:srgbClr val="FFFFFF"/>
          </a:solidFill>
          <a:ln/>
          <a:effectLst>
            <a:outerShdw blurRad="101600" dist="38100" dir="5400000" algn="bl" rotWithShape="0">
              <a:srgbClr val="1B2A55">
                <a:alpha val="18000"/>
              </a:srgbClr>
            </a:outerShdw>
          </a:effectLst>
        </p:spPr>
      </p:sp>
      <p:pic>
        <p:nvPicPr>
          <p:cNvPr id="5" name="Image 0" descr="pipelin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00888" y="2119184"/>
            <a:ext cx="10789920" cy="4082672"/>
          </a:xfrm>
          <a:prstGeom prst="rect">
            <a:avLst/>
          </a:prstGeom>
        </p:spPr>
      </p:pic>
      <p:sp>
        <p:nvSpPr>
          <p:cNvPr id="6" name="Text 3"/>
          <p:cNvSpPr txBox="1"/>
          <p:nvPr/>
        </p:nvSpPr>
        <p:spPr>
          <a:xfrm>
            <a:off x="548640" y="6446520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8C99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Compta-IA — Soutenance de mémoire</a:t>
            </a:r>
            <a:endParaRPr lang="en-US" sz="900" dirty="0"/>
          </a:p>
        </p:txBody>
      </p:sp>
      <p:sp>
        <p:nvSpPr>
          <p:cNvPr id="7" name="Text 4"/>
          <p:cNvSpPr txBox="1"/>
          <p:nvPr/>
        </p:nvSpPr>
        <p:spPr>
          <a:xfrm>
            <a:off x="11185855" y="644652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8C99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</a:t>
            </a:r>
            <a:endParaRPr lang="en-US" sz="9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411480"/>
            <a:ext cx="11094415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000" b="1" dirty="0">
                <a:solidFill>
                  <a:srgbClr val="1B2A5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MODÈLE DE DONNÉES</a:t>
            </a:r>
            <a:endParaRPr lang="en-US" sz="300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1143000"/>
            <a:ext cx="108813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i="1" dirty="0">
                <a:solidFill>
                  <a:srgbClr val="5B6B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Modèle du domaine — 14 tables sous MySQL 8, partie double garantie au niveau logiciel.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2458970" y="1426464"/>
            <a:ext cx="7432017" cy="5431536"/>
          </a:xfrm>
          <a:prstGeom prst="rect">
            <a:avLst/>
          </a:prstGeom>
          <a:solidFill>
            <a:srgbClr val="EEF3FB"/>
          </a:solidFill>
          <a:ln/>
          <a:effectLst>
            <a:outerShdw blurRad="101600" dist="38100" dir="5400000" algn="bl" rotWithShape="0">
              <a:srgbClr val="1B2A55">
                <a:alpha val="18000"/>
              </a:srgbClr>
            </a:outerShdw>
          </a:effectLst>
        </p:spPr>
      </p:sp>
      <p:pic>
        <p:nvPicPr>
          <p:cNvPr id="5" name="Image 0" descr="modele_domain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660137" y="1554480"/>
            <a:ext cx="7029681" cy="5029200"/>
          </a:xfrm>
          <a:prstGeom prst="rect">
            <a:avLst/>
          </a:prstGeom>
        </p:spPr>
      </p:pic>
      <p:sp>
        <p:nvSpPr>
          <p:cNvPr id="6" name="Text 3"/>
          <p:cNvSpPr txBox="1"/>
          <p:nvPr/>
        </p:nvSpPr>
        <p:spPr>
          <a:xfrm>
            <a:off x="548640" y="6446520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5B6B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Compta-IA — Soutenance de mémoire</a:t>
            </a:r>
            <a:endParaRPr lang="en-US" sz="900" dirty="0"/>
          </a:p>
        </p:txBody>
      </p:sp>
      <p:sp>
        <p:nvSpPr>
          <p:cNvPr id="7" name="Text 4"/>
          <p:cNvSpPr txBox="1"/>
          <p:nvPr/>
        </p:nvSpPr>
        <p:spPr>
          <a:xfrm>
            <a:off x="11185855" y="644652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B6B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</a:t>
            </a:r>
            <a:endParaRPr lang="en-US" sz="9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1B2A5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169768" y="502920"/>
            <a:ext cx="5852160" cy="5852160"/>
          </a:xfrm>
          <a:prstGeom prst="ellipse">
            <a:avLst/>
          </a:prstGeom>
          <a:solidFill>
            <a:srgbClr val="121D3D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0" y="2606040"/>
            <a:ext cx="12191695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4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DÉMONSTRATION</a:t>
            </a:r>
            <a:endParaRPr lang="en-US" sz="4800" dirty="0"/>
          </a:p>
        </p:txBody>
      </p:sp>
      <p:sp>
        <p:nvSpPr>
          <p:cNvPr id="4" name="Text 2"/>
          <p:cNvSpPr txBox="1"/>
          <p:nvPr/>
        </p:nvSpPr>
        <p:spPr>
          <a:xfrm>
            <a:off x="0" y="3749040"/>
            <a:ext cx="12191695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i="1" dirty="0">
                <a:solidFill>
                  <a:srgbClr val="D9A4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Application en conditions réelles</a:t>
            </a:r>
            <a:endParaRPr lang="en-US" sz="18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411480"/>
            <a:ext cx="11094415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000" b="1" dirty="0">
                <a:solidFill>
                  <a:srgbClr val="1B2A5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AVANTAGES POUR L'ENTREPRISE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640080" y="1737360"/>
            <a:ext cx="2084832" cy="4114800"/>
          </a:xfrm>
          <a:prstGeom prst="rect">
            <a:avLst/>
          </a:prstGeom>
          <a:solidFill>
            <a:srgbClr val="EEF3FB"/>
          </a:solidFill>
          <a:ln/>
        </p:spPr>
      </p:sp>
      <p:sp>
        <p:nvSpPr>
          <p:cNvPr id="4" name="Shape 2"/>
          <p:cNvSpPr/>
          <p:nvPr/>
        </p:nvSpPr>
        <p:spPr>
          <a:xfrm>
            <a:off x="1408176" y="2011680"/>
            <a:ext cx="548640" cy="548640"/>
          </a:xfrm>
          <a:prstGeom prst="ellipse">
            <a:avLst/>
          </a:prstGeom>
          <a:solidFill>
            <a:srgbClr val="1B2A55"/>
          </a:solidFill>
          <a:ln/>
        </p:spPr>
      </p:sp>
      <p:pic>
        <p:nvPicPr>
          <p:cNvPr id="5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527048" y="2130552"/>
            <a:ext cx="310896" cy="310896"/>
          </a:xfrm>
          <a:prstGeom prst="rect">
            <a:avLst/>
          </a:prstGeom>
        </p:spPr>
      </p:pic>
      <p:sp>
        <p:nvSpPr>
          <p:cNvPr id="6" name="Text 3"/>
          <p:cNvSpPr txBox="1"/>
          <p:nvPr/>
        </p:nvSpPr>
        <p:spPr>
          <a:xfrm>
            <a:off x="731520" y="2788920"/>
            <a:ext cx="1901952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1B2A5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Gain de temps</a:t>
            </a:r>
            <a:endParaRPr lang="en-US" sz="1300" dirty="0"/>
          </a:p>
        </p:txBody>
      </p:sp>
      <p:sp>
        <p:nvSpPr>
          <p:cNvPr id="7" name="Text 4"/>
          <p:cNvSpPr txBox="1"/>
          <p:nvPr/>
        </p:nvSpPr>
        <p:spPr>
          <a:xfrm>
            <a:off x="777240" y="3520440"/>
            <a:ext cx="1810512" cy="2194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12000"/>
              </a:lnSpc>
              <a:buNone/>
            </a:pPr>
            <a:r>
              <a:rPr lang="en-US" sz="1050" dirty="0">
                <a:solidFill>
                  <a:srgbClr val="1B2A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Une saisie qui passait plusieurs minutes par facture se réduit à une simple vérification.</a:t>
            </a:r>
            <a:endParaRPr lang="en-US" sz="1050" dirty="0"/>
          </a:p>
        </p:txBody>
      </p:sp>
      <p:sp>
        <p:nvSpPr>
          <p:cNvPr id="8" name="Shape 5"/>
          <p:cNvSpPr/>
          <p:nvPr/>
        </p:nvSpPr>
        <p:spPr>
          <a:xfrm>
            <a:off x="2871216" y="1737360"/>
            <a:ext cx="2084832" cy="4114800"/>
          </a:xfrm>
          <a:prstGeom prst="rect">
            <a:avLst/>
          </a:prstGeom>
          <a:solidFill>
            <a:srgbClr val="EEF3FB"/>
          </a:solidFill>
          <a:ln/>
        </p:spPr>
      </p:sp>
      <p:sp>
        <p:nvSpPr>
          <p:cNvPr id="9" name="Shape 6"/>
          <p:cNvSpPr/>
          <p:nvPr/>
        </p:nvSpPr>
        <p:spPr>
          <a:xfrm>
            <a:off x="3639312" y="2011680"/>
            <a:ext cx="548640" cy="548640"/>
          </a:xfrm>
          <a:prstGeom prst="ellipse">
            <a:avLst/>
          </a:prstGeom>
          <a:solidFill>
            <a:srgbClr val="1B2A55"/>
          </a:solidFill>
          <a:ln/>
        </p:spPr>
      </p:sp>
      <p:pic>
        <p:nvPicPr>
          <p:cNvPr id="10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758184" y="2130552"/>
            <a:ext cx="310896" cy="310896"/>
          </a:xfrm>
          <a:prstGeom prst="rect">
            <a:avLst/>
          </a:prstGeom>
        </p:spPr>
      </p:pic>
      <p:sp>
        <p:nvSpPr>
          <p:cNvPr id="11" name="Text 7"/>
          <p:cNvSpPr txBox="1"/>
          <p:nvPr/>
        </p:nvSpPr>
        <p:spPr>
          <a:xfrm>
            <a:off x="2962656" y="2788920"/>
            <a:ext cx="1901952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1B2A5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Moins d'erreurs</a:t>
            </a:r>
            <a:endParaRPr lang="en-US" sz="1300" dirty="0"/>
          </a:p>
        </p:txBody>
      </p:sp>
      <p:sp>
        <p:nvSpPr>
          <p:cNvPr id="12" name="Text 8"/>
          <p:cNvSpPr txBox="1"/>
          <p:nvPr/>
        </p:nvSpPr>
        <p:spPr>
          <a:xfrm>
            <a:off x="3008376" y="3520440"/>
            <a:ext cx="1810512" cy="2194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12000"/>
              </a:lnSpc>
              <a:buNone/>
            </a:pPr>
            <a:r>
              <a:rPr lang="en-US" sz="1050" dirty="0">
                <a:solidFill>
                  <a:srgbClr val="1B2A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 proposition automatique réduit le risque d'imputation incorrecte sur un compte.</a:t>
            </a:r>
            <a:endParaRPr lang="en-US" sz="1050" dirty="0"/>
          </a:p>
        </p:txBody>
      </p:sp>
      <p:sp>
        <p:nvSpPr>
          <p:cNvPr id="13" name="Shape 9"/>
          <p:cNvSpPr/>
          <p:nvPr/>
        </p:nvSpPr>
        <p:spPr>
          <a:xfrm>
            <a:off x="5102352" y="1737360"/>
            <a:ext cx="2084832" cy="4114800"/>
          </a:xfrm>
          <a:prstGeom prst="rect">
            <a:avLst/>
          </a:prstGeom>
          <a:solidFill>
            <a:srgbClr val="EEF3FB"/>
          </a:solidFill>
          <a:ln/>
        </p:spPr>
      </p:sp>
      <p:sp>
        <p:nvSpPr>
          <p:cNvPr id="14" name="Shape 10"/>
          <p:cNvSpPr/>
          <p:nvPr/>
        </p:nvSpPr>
        <p:spPr>
          <a:xfrm>
            <a:off x="5870448" y="2011680"/>
            <a:ext cx="548640" cy="548640"/>
          </a:xfrm>
          <a:prstGeom prst="ellipse">
            <a:avLst/>
          </a:prstGeom>
          <a:solidFill>
            <a:srgbClr val="1B2A55"/>
          </a:solidFill>
          <a:ln/>
        </p:spPr>
      </p:sp>
      <p:pic>
        <p:nvPicPr>
          <p:cNvPr id="15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989320" y="2130552"/>
            <a:ext cx="310896" cy="310896"/>
          </a:xfrm>
          <a:prstGeom prst="rect">
            <a:avLst/>
          </a:prstGeom>
        </p:spPr>
      </p:pic>
      <p:sp>
        <p:nvSpPr>
          <p:cNvPr id="16" name="Text 11"/>
          <p:cNvSpPr txBox="1"/>
          <p:nvPr/>
        </p:nvSpPr>
        <p:spPr>
          <a:xfrm>
            <a:off x="5193792" y="2788920"/>
            <a:ext cx="1901952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1B2A5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Traçabilité totale</a:t>
            </a:r>
            <a:endParaRPr lang="en-US" sz="1300" dirty="0"/>
          </a:p>
        </p:txBody>
      </p:sp>
      <p:sp>
        <p:nvSpPr>
          <p:cNvPr id="17" name="Text 12"/>
          <p:cNvSpPr txBox="1"/>
          <p:nvPr/>
        </p:nvSpPr>
        <p:spPr>
          <a:xfrm>
            <a:off x="5239512" y="3520440"/>
            <a:ext cx="1810512" cy="2194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12000"/>
              </a:lnSpc>
              <a:buNone/>
            </a:pPr>
            <a:r>
              <a:rPr lang="en-US" sz="1050" dirty="0">
                <a:solidFill>
                  <a:srgbClr val="1B2A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Chaque action (import, correction, validation) est enregistrée, jamais modifiable après coup.</a:t>
            </a:r>
            <a:endParaRPr lang="en-US" sz="1050" dirty="0"/>
          </a:p>
        </p:txBody>
      </p:sp>
      <p:sp>
        <p:nvSpPr>
          <p:cNvPr id="18" name="Shape 13"/>
          <p:cNvSpPr/>
          <p:nvPr/>
        </p:nvSpPr>
        <p:spPr>
          <a:xfrm>
            <a:off x="7333488" y="1737360"/>
            <a:ext cx="2084832" cy="4114800"/>
          </a:xfrm>
          <a:prstGeom prst="rect">
            <a:avLst/>
          </a:prstGeom>
          <a:solidFill>
            <a:srgbClr val="EEF3FB"/>
          </a:solidFill>
          <a:ln/>
        </p:spPr>
      </p:sp>
      <p:sp>
        <p:nvSpPr>
          <p:cNvPr id="19" name="Shape 14"/>
          <p:cNvSpPr/>
          <p:nvPr/>
        </p:nvSpPr>
        <p:spPr>
          <a:xfrm>
            <a:off x="8101584" y="2011680"/>
            <a:ext cx="548640" cy="548640"/>
          </a:xfrm>
          <a:prstGeom prst="ellipse">
            <a:avLst/>
          </a:prstGeom>
          <a:solidFill>
            <a:srgbClr val="1B2A55"/>
          </a:solidFill>
          <a:ln/>
        </p:spPr>
      </p:sp>
      <p:pic>
        <p:nvPicPr>
          <p:cNvPr id="20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220456" y="2130552"/>
            <a:ext cx="310896" cy="310896"/>
          </a:xfrm>
          <a:prstGeom prst="rect">
            <a:avLst/>
          </a:prstGeom>
        </p:spPr>
      </p:pic>
      <p:sp>
        <p:nvSpPr>
          <p:cNvPr id="21" name="Text 15"/>
          <p:cNvSpPr txBox="1"/>
          <p:nvPr/>
        </p:nvSpPr>
        <p:spPr>
          <a:xfrm>
            <a:off x="7424928" y="2788920"/>
            <a:ext cx="1901952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1B2A5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Amélioration continue</a:t>
            </a:r>
            <a:endParaRPr lang="en-US" sz="1300" dirty="0"/>
          </a:p>
        </p:txBody>
      </p:sp>
      <p:sp>
        <p:nvSpPr>
          <p:cNvPr id="22" name="Text 16"/>
          <p:cNvSpPr txBox="1"/>
          <p:nvPr/>
        </p:nvSpPr>
        <p:spPr>
          <a:xfrm>
            <a:off x="7470648" y="3520440"/>
            <a:ext cx="1810512" cy="2194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12000"/>
              </a:lnSpc>
              <a:buNone/>
            </a:pPr>
            <a:r>
              <a:rPr lang="en-US" sz="1050" dirty="0">
                <a:solidFill>
                  <a:srgbClr val="1B2A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Chaque correction du comptable enrichit le modèle lors du prochain réentraînement.</a:t>
            </a:r>
            <a:endParaRPr lang="en-US" sz="1050" dirty="0"/>
          </a:p>
        </p:txBody>
      </p:sp>
      <p:sp>
        <p:nvSpPr>
          <p:cNvPr id="23" name="Shape 17"/>
          <p:cNvSpPr/>
          <p:nvPr/>
        </p:nvSpPr>
        <p:spPr>
          <a:xfrm>
            <a:off x="9564624" y="1737360"/>
            <a:ext cx="2084832" cy="4114800"/>
          </a:xfrm>
          <a:prstGeom prst="rect">
            <a:avLst/>
          </a:prstGeom>
          <a:solidFill>
            <a:srgbClr val="EEF3FB"/>
          </a:solidFill>
          <a:ln/>
        </p:spPr>
      </p:sp>
      <p:sp>
        <p:nvSpPr>
          <p:cNvPr id="24" name="Shape 18"/>
          <p:cNvSpPr/>
          <p:nvPr/>
        </p:nvSpPr>
        <p:spPr>
          <a:xfrm>
            <a:off x="10332720" y="2011680"/>
            <a:ext cx="548640" cy="548640"/>
          </a:xfrm>
          <a:prstGeom prst="ellipse">
            <a:avLst/>
          </a:prstGeom>
          <a:solidFill>
            <a:srgbClr val="1B2A55"/>
          </a:solidFill>
          <a:ln/>
        </p:spPr>
      </p:sp>
      <p:pic>
        <p:nvPicPr>
          <p:cNvPr id="25" name="Image 4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10451592" y="2130552"/>
            <a:ext cx="310896" cy="310896"/>
          </a:xfrm>
          <a:prstGeom prst="rect">
            <a:avLst/>
          </a:prstGeom>
        </p:spPr>
      </p:pic>
      <p:sp>
        <p:nvSpPr>
          <p:cNvPr id="26" name="Text 19"/>
          <p:cNvSpPr txBox="1"/>
          <p:nvPr/>
        </p:nvSpPr>
        <p:spPr>
          <a:xfrm>
            <a:off x="9656064" y="2788920"/>
            <a:ext cx="1901952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1B2A5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Multi-entreprise</a:t>
            </a:r>
            <a:endParaRPr lang="en-US" sz="1300" dirty="0"/>
          </a:p>
        </p:txBody>
      </p:sp>
      <p:sp>
        <p:nvSpPr>
          <p:cNvPr id="27" name="Text 20"/>
          <p:cNvSpPr txBox="1"/>
          <p:nvPr/>
        </p:nvSpPr>
        <p:spPr>
          <a:xfrm>
            <a:off x="9701784" y="3520440"/>
            <a:ext cx="1810512" cy="2194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12000"/>
              </a:lnSpc>
              <a:buNone/>
            </a:pPr>
            <a:r>
              <a:rPr lang="en-US" sz="1050" dirty="0">
                <a:solidFill>
                  <a:srgbClr val="1B2A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Une même installation peut isoler plusieurs entreprises clientes, chacune avec ses propres données.</a:t>
            </a:r>
            <a:endParaRPr lang="en-US" sz="1050" dirty="0"/>
          </a:p>
        </p:txBody>
      </p:sp>
      <p:sp>
        <p:nvSpPr>
          <p:cNvPr id="28" name="Text 21"/>
          <p:cNvSpPr txBox="1"/>
          <p:nvPr/>
        </p:nvSpPr>
        <p:spPr>
          <a:xfrm>
            <a:off x="548640" y="6446520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5B6B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Compta-IA — Soutenance de mémoire</a:t>
            </a:r>
            <a:endParaRPr lang="en-US" sz="900" dirty="0"/>
          </a:p>
        </p:txBody>
      </p:sp>
      <p:sp>
        <p:nvSpPr>
          <p:cNvPr id="29" name="Text 22"/>
          <p:cNvSpPr txBox="1"/>
          <p:nvPr/>
        </p:nvSpPr>
        <p:spPr>
          <a:xfrm>
            <a:off x="11185855" y="644652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B6B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</a:t>
            </a:r>
            <a:endParaRPr lang="en-US" sz="9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411480"/>
            <a:ext cx="11094415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000" b="1" dirty="0">
                <a:solidFill>
                  <a:srgbClr val="8C3A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RISQUES ET LIMITES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640080" y="1737360"/>
            <a:ext cx="2084832" cy="4114800"/>
          </a:xfrm>
          <a:prstGeom prst="rect">
            <a:avLst/>
          </a:prstGeom>
          <a:solidFill>
            <a:srgbClr val="F7EEEE"/>
          </a:solidFill>
          <a:ln/>
        </p:spPr>
      </p:sp>
      <p:sp>
        <p:nvSpPr>
          <p:cNvPr id="4" name="Shape 2"/>
          <p:cNvSpPr/>
          <p:nvPr/>
        </p:nvSpPr>
        <p:spPr>
          <a:xfrm>
            <a:off x="1408176" y="2011680"/>
            <a:ext cx="548640" cy="548640"/>
          </a:xfrm>
          <a:prstGeom prst="ellipse">
            <a:avLst/>
          </a:prstGeom>
          <a:solidFill>
            <a:srgbClr val="8C3A3A"/>
          </a:solidFill>
          <a:ln/>
        </p:spPr>
      </p:sp>
      <p:pic>
        <p:nvPicPr>
          <p:cNvPr id="5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527048" y="2130552"/>
            <a:ext cx="310896" cy="310896"/>
          </a:xfrm>
          <a:prstGeom prst="rect">
            <a:avLst/>
          </a:prstGeom>
        </p:spPr>
      </p:pic>
      <p:sp>
        <p:nvSpPr>
          <p:cNvPr id="6" name="Text 3"/>
          <p:cNvSpPr txBox="1"/>
          <p:nvPr/>
        </p:nvSpPr>
        <p:spPr>
          <a:xfrm>
            <a:off x="731520" y="2788920"/>
            <a:ext cx="1901952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8C3A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Qualité de l'OCR</a:t>
            </a:r>
            <a:endParaRPr lang="en-US" sz="1300" dirty="0"/>
          </a:p>
        </p:txBody>
      </p:sp>
      <p:sp>
        <p:nvSpPr>
          <p:cNvPr id="7" name="Text 4"/>
          <p:cNvSpPr txBox="1"/>
          <p:nvPr/>
        </p:nvSpPr>
        <p:spPr>
          <a:xfrm>
            <a:off x="777240" y="3520440"/>
            <a:ext cx="1810512" cy="2194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12000"/>
              </a:lnSpc>
              <a:buNone/>
            </a:pPr>
            <a:r>
              <a:rPr lang="en-US" sz="1050" dirty="0">
                <a:solidFill>
                  <a:srgbClr val="1B2A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 lecture reste dépendante de la lisibilité du document source (photo, scan de mauvaise qualité).</a:t>
            </a:r>
            <a:endParaRPr lang="en-US" sz="1050" dirty="0"/>
          </a:p>
        </p:txBody>
      </p:sp>
      <p:sp>
        <p:nvSpPr>
          <p:cNvPr id="8" name="Shape 5"/>
          <p:cNvSpPr/>
          <p:nvPr/>
        </p:nvSpPr>
        <p:spPr>
          <a:xfrm>
            <a:off x="2871216" y="1737360"/>
            <a:ext cx="2084832" cy="4114800"/>
          </a:xfrm>
          <a:prstGeom prst="rect">
            <a:avLst/>
          </a:prstGeom>
          <a:solidFill>
            <a:srgbClr val="F7EEEE"/>
          </a:solidFill>
          <a:ln/>
        </p:spPr>
      </p:sp>
      <p:sp>
        <p:nvSpPr>
          <p:cNvPr id="9" name="Shape 6"/>
          <p:cNvSpPr/>
          <p:nvPr/>
        </p:nvSpPr>
        <p:spPr>
          <a:xfrm>
            <a:off x="3639312" y="2011680"/>
            <a:ext cx="548640" cy="548640"/>
          </a:xfrm>
          <a:prstGeom prst="ellipse">
            <a:avLst/>
          </a:prstGeom>
          <a:solidFill>
            <a:srgbClr val="8C3A3A"/>
          </a:solidFill>
          <a:ln/>
        </p:spPr>
      </p:sp>
      <p:pic>
        <p:nvPicPr>
          <p:cNvPr id="10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758184" y="2130552"/>
            <a:ext cx="310896" cy="310896"/>
          </a:xfrm>
          <a:prstGeom prst="rect">
            <a:avLst/>
          </a:prstGeom>
        </p:spPr>
      </p:pic>
      <p:sp>
        <p:nvSpPr>
          <p:cNvPr id="11" name="Text 7"/>
          <p:cNvSpPr txBox="1"/>
          <p:nvPr/>
        </p:nvSpPr>
        <p:spPr>
          <a:xfrm>
            <a:off x="2962656" y="2788920"/>
            <a:ext cx="1901952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8C3A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Corpus limité</a:t>
            </a:r>
            <a:endParaRPr lang="en-US" sz="1300" dirty="0"/>
          </a:p>
        </p:txBody>
      </p:sp>
      <p:sp>
        <p:nvSpPr>
          <p:cNvPr id="12" name="Text 8"/>
          <p:cNvSpPr txBox="1"/>
          <p:nvPr/>
        </p:nvSpPr>
        <p:spPr>
          <a:xfrm>
            <a:off x="3008376" y="3520440"/>
            <a:ext cx="1810512" cy="2194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12000"/>
              </a:lnSpc>
              <a:buNone/>
            </a:pPr>
            <a:r>
              <a:rPr lang="en-US" sz="1050" dirty="0">
                <a:solidFill>
                  <a:srgbClr val="1B2A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 modèle statistique n'est pas encore pleinement activé, faute d'un volume suffisant de factures validées.</a:t>
            </a:r>
            <a:endParaRPr lang="en-US" sz="1050" dirty="0"/>
          </a:p>
        </p:txBody>
      </p:sp>
      <p:sp>
        <p:nvSpPr>
          <p:cNvPr id="13" name="Shape 9"/>
          <p:cNvSpPr/>
          <p:nvPr/>
        </p:nvSpPr>
        <p:spPr>
          <a:xfrm>
            <a:off x="5102352" y="1737360"/>
            <a:ext cx="2084832" cy="4114800"/>
          </a:xfrm>
          <a:prstGeom prst="rect">
            <a:avLst/>
          </a:prstGeom>
          <a:solidFill>
            <a:srgbClr val="F7EEEE"/>
          </a:solidFill>
          <a:ln/>
        </p:spPr>
      </p:sp>
      <p:sp>
        <p:nvSpPr>
          <p:cNvPr id="14" name="Shape 10"/>
          <p:cNvSpPr/>
          <p:nvPr/>
        </p:nvSpPr>
        <p:spPr>
          <a:xfrm>
            <a:off x="5870448" y="2011680"/>
            <a:ext cx="548640" cy="548640"/>
          </a:xfrm>
          <a:prstGeom prst="ellipse">
            <a:avLst/>
          </a:prstGeom>
          <a:solidFill>
            <a:srgbClr val="8C3A3A"/>
          </a:solidFill>
          <a:ln/>
        </p:spPr>
      </p:sp>
      <p:pic>
        <p:nvPicPr>
          <p:cNvPr id="15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989320" y="2130552"/>
            <a:ext cx="310896" cy="310896"/>
          </a:xfrm>
          <a:prstGeom prst="rect">
            <a:avLst/>
          </a:prstGeom>
        </p:spPr>
      </p:pic>
      <p:sp>
        <p:nvSpPr>
          <p:cNvPr id="16" name="Text 11"/>
          <p:cNvSpPr txBox="1"/>
          <p:nvPr/>
        </p:nvSpPr>
        <p:spPr>
          <a:xfrm>
            <a:off x="5193792" y="2788920"/>
            <a:ext cx="1901952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8C3A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Supervision requise</a:t>
            </a:r>
            <a:endParaRPr lang="en-US" sz="1300" dirty="0"/>
          </a:p>
        </p:txBody>
      </p:sp>
      <p:sp>
        <p:nvSpPr>
          <p:cNvPr id="17" name="Text 12"/>
          <p:cNvSpPr txBox="1"/>
          <p:nvPr/>
        </p:nvSpPr>
        <p:spPr>
          <a:xfrm>
            <a:off x="5239512" y="3520440"/>
            <a:ext cx="1810512" cy="2194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12000"/>
              </a:lnSpc>
              <a:buNone/>
            </a:pPr>
            <a:r>
              <a:rPr lang="en-US" sz="1050" dirty="0">
                <a:solidFill>
                  <a:srgbClr val="1B2A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 système ne remplace jamais le comptable : une validation humaine reste indispensable à chaque étape.</a:t>
            </a:r>
            <a:endParaRPr lang="en-US" sz="1050" dirty="0"/>
          </a:p>
        </p:txBody>
      </p:sp>
      <p:sp>
        <p:nvSpPr>
          <p:cNvPr id="18" name="Shape 13"/>
          <p:cNvSpPr/>
          <p:nvPr/>
        </p:nvSpPr>
        <p:spPr>
          <a:xfrm>
            <a:off x="7333488" y="1737360"/>
            <a:ext cx="2084832" cy="4114800"/>
          </a:xfrm>
          <a:prstGeom prst="rect">
            <a:avLst/>
          </a:prstGeom>
          <a:solidFill>
            <a:srgbClr val="F7EEEE"/>
          </a:solidFill>
          <a:ln/>
        </p:spPr>
      </p:sp>
      <p:sp>
        <p:nvSpPr>
          <p:cNvPr id="19" name="Shape 14"/>
          <p:cNvSpPr/>
          <p:nvPr/>
        </p:nvSpPr>
        <p:spPr>
          <a:xfrm>
            <a:off x="8101584" y="2011680"/>
            <a:ext cx="548640" cy="548640"/>
          </a:xfrm>
          <a:prstGeom prst="ellipse">
            <a:avLst/>
          </a:prstGeom>
          <a:solidFill>
            <a:srgbClr val="8C3A3A"/>
          </a:solidFill>
          <a:ln/>
        </p:spPr>
      </p:sp>
      <p:pic>
        <p:nvPicPr>
          <p:cNvPr id="20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220456" y="2130552"/>
            <a:ext cx="310896" cy="310896"/>
          </a:xfrm>
          <a:prstGeom prst="rect">
            <a:avLst/>
          </a:prstGeom>
        </p:spPr>
      </p:pic>
      <p:sp>
        <p:nvSpPr>
          <p:cNvPr id="21" name="Text 15"/>
          <p:cNvSpPr txBox="1"/>
          <p:nvPr/>
        </p:nvSpPr>
        <p:spPr>
          <a:xfrm>
            <a:off x="7424928" y="2788920"/>
            <a:ext cx="1901952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8C3A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Déploiement manuel</a:t>
            </a:r>
            <a:endParaRPr lang="en-US" sz="1300" dirty="0"/>
          </a:p>
        </p:txBody>
      </p:sp>
      <p:sp>
        <p:nvSpPr>
          <p:cNvPr id="22" name="Text 16"/>
          <p:cNvSpPr txBox="1"/>
          <p:nvPr/>
        </p:nvSpPr>
        <p:spPr>
          <a:xfrm>
            <a:off x="7470648" y="3520440"/>
            <a:ext cx="1810512" cy="2194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12000"/>
              </a:lnSpc>
              <a:buNone/>
            </a:pPr>
            <a:r>
              <a:rPr lang="en-US" sz="1050" dirty="0">
                <a:solidFill>
                  <a:srgbClr val="1B2A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Aucune conteneurisation ni intégration continue à ce stade — un risque pour la fiabilité en production.</a:t>
            </a:r>
            <a:endParaRPr lang="en-US" sz="1050" dirty="0"/>
          </a:p>
        </p:txBody>
      </p:sp>
      <p:sp>
        <p:nvSpPr>
          <p:cNvPr id="23" name="Shape 17"/>
          <p:cNvSpPr/>
          <p:nvPr/>
        </p:nvSpPr>
        <p:spPr>
          <a:xfrm>
            <a:off x="9564624" y="1737360"/>
            <a:ext cx="2084832" cy="4114800"/>
          </a:xfrm>
          <a:prstGeom prst="rect">
            <a:avLst/>
          </a:prstGeom>
          <a:solidFill>
            <a:srgbClr val="F7EEEE"/>
          </a:solidFill>
          <a:ln/>
        </p:spPr>
      </p:sp>
      <p:sp>
        <p:nvSpPr>
          <p:cNvPr id="24" name="Shape 18"/>
          <p:cNvSpPr/>
          <p:nvPr/>
        </p:nvSpPr>
        <p:spPr>
          <a:xfrm>
            <a:off x="10332720" y="2011680"/>
            <a:ext cx="548640" cy="548640"/>
          </a:xfrm>
          <a:prstGeom prst="ellipse">
            <a:avLst/>
          </a:prstGeom>
          <a:solidFill>
            <a:srgbClr val="8C3A3A"/>
          </a:solidFill>
          <a:ln/>
        </p:spPr>
      </p:sp>
      <p:pic>
        <p:nvPicPr>
          <p:cNvPr id="25" name="Image 4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10451592" y="2130552"/>
            <a:ext cx="310896" cy="310896"/>
          </a:xfrm>
          <a:prstGeom prst="rect">
            <a:avLst/>
          </a:prstGeom>
        </p:spPr>
      </p:pic>
      <p:sp>
        <p:nvSpPr>
          <p:cNvPr id="26" name="Text 19"/>
          <p:cNvSpPr txBox="1"/>
          <p:nvPr/>
        </p:nvSpPr>
        <p:spPr>
          <a:xfrm>
            <a:off x="9656064" y="2788920"/>
            <a:ext cx="1901952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8C3A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Confidentialité</a:t>
            </a:r>
            <a:endParaRPr lang="en-US" sz="1300" dirty="0"/>
          </a:p>
        </p:txBody>
      </p:sp>
      <p:sp>
        <p:nvSpPr>
          <p:cNvPr id="27" name="Text 20"/>
          <p:cNvSpPr txBox="1"/>
          <p:nvPr/>
        </p:nvSpPr>
        <p:spPr>
          <a:xfrm>
            <a:off x="9701784" y="3520440"/>
            <a:ext cx="1810512" cy="2194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12000"/>
              </a:lnSpc>
              <a:buNone/>
            </a:pPr>
            <a:r>
              <a:rPr lang="en-US" sz="1050" dirty="0">
                <a:solidFill>
                  <a:srgbClr val="1B2A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Les données comptables étant sensibles, leur protection doit être renforcée avant tout déploiement réel.</a:t>
            </a:r>
            <a:endParaRPr lang="en-US" sz="1050" dirty="0"/>
          </a:p>
        </p:txBody>
      </p:sp>
      <p:sp>
        <p:nvSpPr>
          <p:cNvPr id="28" name="Text 21"/>
          <p:cNvSpPr txBox="1"/>
          <p:nvPr/>
        </p:nvSpPr>
        <p:spPr>
          <a:xfrm>
            <a:off x="548640" y="6446520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5B6B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Compta-IA — Soutenance de mémoire</a:t>
            </a:r>
            <a:endParaRPr lang="en-US" sz="900" dirty="0"/>
          </a:p>
        </p:txBody>
      </p:sp>
      <p:sp>
        <p:nvSpPr>
          <p:cNvPr id="29" name="Text 22"/>
          <p:cNvSpPr txBox="1"/>
          <p:nvPr/>
        </p:nvSpPr>
        <p:spPr>
          <a:xfrm>
            <a:off x="11185855" y="644652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B6B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13</a:t>
            </a:r>
            <a:endParaRPr lang="en-US" sz="9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1B2A5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1645920" y="-1645920"/>
            <a:ext cx="4572000" cy="4572000"/>
          </a:xfrm>
          <a:prstGeom prst="ellipse">
            <a:avLst/>
          </a:prstGeom>
          <a:solidFill>
            <a:srgbClr val="121D3D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640080" y="548640"/>
            <a:ext cx="73152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CONCLUSION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640080" y="1600200"/>
            <a:ext cx="384048" cy="384048"/>
          </a:xfrm>
          <a:prstGeom prst="ellipse">
            <a:avLst/>
          </a:prstGeom>
          <a:solidFill>
            <a:srgbClr val="D9A441"/>
          </a:solidFill>
          <a:ln/>
        </p:spPr>
      </p:sp>
      <p:pic>
        <p:nvPicPr>
          <p:cNvPr id="5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13232" y="1673352"/>
            <a:ext cx="237744" cy="237744"/>
          </a:xfrm>
          <a:prstGeom prst="rect">
            <a:avLst/>
          </a:prstGeom>
        </p:spPr>
      </p:pic>
      <p:sp>
        <p:nvSpPr>
          <p:cNvPr id="6" name="Text 3"/>
          <p:cNvSpPr txBox="1"/>
          <p:nvPr/>
        </p:nvSpPr>
        <p:spPr>
          <a:xfrm>
            <a:off x="1234440" y="1527048"/>
            <a:ext cx="96926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10000"/>
              </a:lnSpc>
              <a:buNone/>
            </a:pPr>
            <a:r>
              <a:rPr lang="en-US" sz="1500" dirty="0">
                <a:solidFill>
                  <a:srgbClr val="EEF3F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Compta-IA démontre la faisabilité d'une automatisation comptable assistée par IA, conforme au PCG malgache.</a:t>
            </a:r>
            <a:endParaRPr lang="en-US" sz="1500" dirty="0"/>
          </a:p>
        </p:txBody>
      </p:sp>
      <p:sp>
        <p:nvSpPr>
          <p:cNvPr id="7" name="Shape 4"/>
          <p:cNvSpPr/>
          <p:nvPr/>
        </p:nvSpPr>
        <p:spPr>
          <a:xfrm>
            <a:off x="640080" y="2514600"/>
            <a:ext cx="384048" cy="384048"/>
          </a:xfrm>
          <a:prstGeom prst="ellipse">
            <a:avLst/>
          </a:prstGeom>
          <a:solidFill>
            <a:srgbClr val="D9A441"/>
          </a:solidFill>
          <a:ln/>
        </p:spPr>
      </p:sp>
      <p:pic>
        <p:nvPicPr>
          <p:cNvPr id="8" name="Image 1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13232" y="2587752"/>
            <a:ext cx="237744" cy="237744"/>
          </a:xfrm>
          <a:prstGeom prst="rect">
            <a:avLst/>
          </a:prstGeom>
        </p:spPr>
      </p:pic>
      <p:sp>
        <p:nvSpPr>
          <p:cNvPr id="9" name="Text 5"/>
          <p:cNvSpPr txBox="1"/>
          <p:nvPr/>
        </p:nvSpPr>
        <p:spPr>
          <a:xfrm>
            <a:off x="1234440" y="2441448"/>
            <a:ext cx="96926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10000"/>
              </a:lnSpc>
              <a:buNone/>
            </a:pPr>
            <a:r>
              <a:rPr lang="en-US" sz="1500" dirty="0">
                <a:solidFill>
                  <a:srgbClr val="EEF3F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Une architecture testée, traçable et pensée pour rester sous la supervision effective du comptable.</a:t>
            </a:r>
            <a:endParaRPr lang="en-US" sz="1500" dirty="0"/>
          </a:p>
        </p:txBody>
      </p:sp>
      <p:sp>
        <p:nvSpPr>
          <p:cNvPr id="10" name="Shape 6"/>
          <p:cNvSpPr/>
          <p:nvPr/>
        </p:nvSpPr>
        <p:spPr>
          <a:xfrm>
            <a:off x="640080" y="3429000"/>
            <a:ext cx="384048" cy="384048"/>
          </a:xfrm>
          <a:prstGeom prst="ellipse">
            <a:avLst/>
          </a:prstGeom>
          <a:solidFill>
            <a:srgbClr val="D9A441"/>
          </a:solidFill>
          <a:ln/>
        </p:spPr>
      </p:sp>
      <p:pic>
        <p:nvPicPr>
          <p:cNvPr id="11" name="Image 2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13232" y="3502152"/>
            <a:ext cx="237744" cy="237744"/>
          </a:xfrm>
          <a:prstGeom prst="rect">
            <a:avLst/>
          </a:prstGeom>
        </p:spPr>
      </p:pic>
      <p:sp>
        <p:nvSpPr>
          <p:cNvPr id="12" name="Text 7"/>
          <p:cNvSpPr txBox="1"/>
          <p:nvPr/>
        </p:nvSpPr>
        <p:spPr>
          <a:xfrm>
            <a:off x="1234440" y="3355848"/>
            <a:ext cx="96926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10000"/>
              </a:lnSpc>
              <a:buNone/>
            </a:pPr>
            <a:r>
              <a:rPr lang="en-US" sz="1500" dirty="0">
                <a:solidFill>
                  <a:srgbClr val="EEF3F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Perspectives : corpus élargi, conteneurisation, intégration continue, capture directe depuis un mobile.</a:t>
            </a:r>
            <a:endParaRPr lang="en-US" sz="1500" dirty="0"/>
          </a:p>
        </p:txBody>
      </p:sp>
      <p:sp>
        <p:nvSpPr>
          <p:cNvPr id="13" name="Shape 8"/>
          <p:cNvSpPr/>
          <p:nvPr/>
        </p:nvSpPr>
        <p:spPr>
          <a:xfrm>
            <a:off x="5638648" y="4709160"/>
            <a:ext cx="914400" cy="914400"/>
          </a:xfrm>
          <a:prstGeom prst="ellipse">
            <a:avLst/>
          </a:prstGeom>
          <a:solidFill>
            <a:srgbClr val="D9A441"/>
          </a:solidFill>
          <a:ln/>
        </p:spPr>
      </p:sp>
      <p:pic>
        <p:nvPicPr>
          <p:cNvPr id="14" name="Image 3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821528" y="4892040"/>
            <a:ext cx="548640" cy="548640"/>
          </a:xfrm>
          <a:prstGeom prst="rect">
            <a:avLst/>
          </a:prstGeom>
        </p:spPr>
      </p:pic>
      <p:sp>
        <p:nvSpPr>
          <p:cNvPr id="15" name="Text 9"/>
          <p:cNvSpPr txBox="1"/>
          <p:nvPr/>
        </p:nvSpPr>
        <p:spPr>
          <a:xfrm>
            <a:off x="0" y="5760720"/>
            <a:ext cx="12191695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Merci de votre attention — Questions ?</a:t>
            </a:r>
            <a:endParaRPr lang="en-US" sz="22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Thème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565</TotalTime>
  <Words>886</Words>
  <Application>Microsoft Office PowerPoint</Application>
  <PresentationFormat>Grand écran</PresentationFormat>
  <Paragraphs>144</Paragraphs>
  <Slides>14</Slides>
  <Notes>14</Notes>
  <HiddenSlides>0</HiddenSlides>
  <MMClips>0</MMClips>
  <ScaleCrop>false</ScaleCrop>
  <HeadingPairs>
    <vt:vector size="6" baseType="variant">
      <vt:variant>
        <vt:lpstr>Polices utilisées</vt:lpstr>
      </vt:variant>
      <vt:variant>
        <vt:i4>3</vt:i4>
      </vt:variant>
      <vt:variant>
        <vt:lpstr>Thème</vt:lpstr>
      </vt:variant>
      <vt:variant>
        <vt:i4>1</vt:i4>
      </vt:variant>
      <vt:variant>
        <vt:lpstr>Titres des diapositives</vt:lpstr>
      </vt:variant>
      <vt:variant>
        <vt:i4>14</vt:i4>
      </vt:variant>
    </vt:vector>
  </HeadingPairs>
  <TitlesOfParts>
    <vt:vector size="18" baseType="lpstr">
      <vt:lpstr>Arial</vt:lpstr>
      <vt:lpstr>Calibri</vt:lpstr>
      <vt:lpstr>Cambria</vt:lpstr>
      <vt:lpstr>Office Theme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</vt:vector>
  </TitlesOfParts>
  <Company>PptxGenJS</Company>
  <LinksUpToDate>false</LinksUpToDate>
  <SharedDoc>false</SharedDoc>
  <HyperlinksChanged>false</HyperlinksChanged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FANEVA</cp:lastModifiedBy>
  <cp:revision>3</cp:revision>
  <dcterms:created xsi:type="dcterms:W3CDTF">2026-09-27T07:20:40Z</dcterms:created>
  <dcterms:modified xsi:type="dcterms:W3CDTF">2026-09-27T16:47:30Z</dcterms:modified>
</cp:coreProperties>
</file>